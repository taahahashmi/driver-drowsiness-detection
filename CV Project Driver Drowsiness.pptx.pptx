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18288000" cy="10287000"/>
  <p:notesSz cx="6858000" cy="9144000"/>
  <p:embeddedFontLst>
    <p:embeddedFont>
      <p:font typeface="DM Sans" pitchFamily="2" charset="0"/>
      <p:regular r:id="rId6"/>
    </p:embeddedFont>
    <p:embeddedFont>
      <p:font typeface="DM Sans Bold" panose="020B0604020202020204" charset="0"/>
      <p:regular r:id="rId7"/>
    </p:embeddedFont>
    <p:embeddedFont>
      <p:font typeface="Libre Baskerville" panose="02000000000000000000" pitchFamily="2" charset="0"/>
      <p:regular r:id="rId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48" d="100"/>
          <a:sy n="48" d="100"/>
        </p:scale>
        <p:origin x="636" y="3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3.fntdata"/><Relationship Id="rId3" Type="http://schemas.openxmlformats.org/officeDocument/2006/relationships/slide" Target="slides/slide2.xml"/><Relationship Id="rId7" Type="http://schemas.openxmlformats.org/officeDocument/2006/relationships/font" Target="fonts/font2.fntdata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1.fntdata"/><Relationship Id="rId11" Type="http://schemas.openxmlformats.org/officeDocument/2006/relationships/theme" Target="theme/theme1.xml"/><Relationship Id="rId5" Type="http://schemas.openxmlformats.org/officeDocument/2006/relationships/notesMaster" Target="notesMasters/notesMaster1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22.12.2025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svg"/><Relationship Id="rId3" Type="http://schemas.openxmlformats.org/officeDocument/2006/relationships/image" Target="../media/image5.png"/><Relationship Id="rId7" Type="http://schemas.openxmlformats.org/officeDocument/2006/relationships/image" Target="../media/image9.svg"/><Relationship Id="rId12" Type="http://schemas.openxmlformats.org/officeDocument/2006/relationships/image" Target="../media/image1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11" Type="http://schemas.openxmlformats.org/officeDocument/2006/relationships/image" Target="../media/image13.svg"/><Relationship Id="rId5" Type="http://schemas.openxmlformats.org/officeDocument/2006/relationships/image" Target="../media/image7.sv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92238" y="926154"/>
            <a:ext cx="11786597" cy="7721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74"/>
              </a:lnSpc>
            </a:pPr>
            <a:r>
              <a:rPr lang="en-US" sz="4687">
                <a:solidFill>
                  <a:srgbClr val="5C4E3D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Driver Drowsiness Monitoring System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977951" y="2165899"/>
            <a:ext cx="8059788" cy="2630538"/>
            <a:chOff x="0" y="0"/>
            <a:chExt cx="10746384" cy="3507384"/>
          </a:xfrm>
        </p:grpSpPr>
        <p:sp>
          <p:nvSpPr>
            <p:cNvPr id="4" name="Freeform 4"/>
            <p:cNvSpPr/>
            <p:nvPr/>
          </p:nvSpPr>
          <p:spPr>
            <a:xfrm>
              <a:off x="19050" y="19050"/>
              <a:ext cx="10708386" cy="3469259"/>
            </a:xfrm>
            <a:custGeom>
              <a:avLst/>
              <a:gdLst/>
              <a:ahLst/>
              <a:cxnLst/>
              <a:rect l="l" t="t" r="r" b="b"/>
              <a:pathLst>
                <a:path w="10708386" h="3469259">
                  <a:moveTo>
                    <a:pt x="0" y="182880"/>
                  </a:moveTo>
                  <a:cubicBezTo>
                    <a:pt x="0" y="81915"/>
                    <a:pt x="82423" y="0"/>
                    <a:pt x="184277" y="0"/>
                  </a:cubicBezTo>
                  <a:lnTo>
                    <a:pt x="10524109" y="0"/>
                  </a:lnTo>
                  <a:cubicBezTo>
                    <a:pt x="10625836" y="0"/>
                    <a:pt x="10708386" y="81915"/>
                    <a:pt x="10708386" y="182880"/>
                  </a:cubicBezTo>
                  <a:lnTo>
                    <a:pt x="10708386" y="3286379"/>
                  </a:lnTo>
                  <a:cubicBezTo>
                    <a:pt x="10708386" y="3387344"/>
                    <a:pt x="10625963" y="3469259"/>
                    <a:pt x="10524109" y="3469259"/>
                  </a:cubicBezTo>
                  <a:lnTo>
                    <a:pt x="184277" y="3469259"/>
                  </a:lnTo>
                  <a:cubicBezTo>
                    <a:pt x="82550" y="3469259"/>
                    <a:pt x="0" y="3387344"/>
                    <a:pt x="0" y="3286379"/>
                  </a:cubicBezTo>
                  <a:close/>
                </a:path>
              </a:pathLst>
            </a:custGeom>
            <a:solidFill>
              <a:srgbClr val="FFFDFA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Freeform 5"/>
            <p:cNvSpPr/>
            <p:nvPr/>
          </p:nvSpPr>
          <p:spPr>
            <a:xfrm>
              <a:off x="0" y="0"/>
              <a:ext cx="10746486" cy="3507359"/>
            </a:xfrm>
            <a:custGeom>
              <a:avLst/>
              <a:gdLst/>
              <a:ahLst/>
              <a:cxnLst/>
              <a:rect l="l" t="t" r="r" b="b"/>
              <a:pathLst>
                <a:path w="10746486" h="3507359">
                  <a:moveTo>
                    <a:pt x="0" y="201930"/>
                  </a:moveTo>
                  <a:cubicBezTo>
                    <a:pt x="0" y="90297"/>
                    <a:pt x="91186" y="0"/>
                    <a:pt x="203327" y="0"/>
                  </a:cubicBezTo>
                  <a:lnTo>
                    <a:pt x="10543159" y="0"/>
                  </a:lnTo>
                  <a:lnTo>
                    <a:pt x="10543159" y="19050"/>
                  </a:lnTo>
                  <a:lnTo>
                    <a:pt x="10543159" y="0"/>
                  </a:lnTo>
                  <a:cubicBezTo>
                    <a:pt x="10655300" y="0"/>
                    <a:pt x="10746486" y="90297"/>
                    <a:pt x="10746486" y="201930"/>
                  </a:cubicBezTo>
                  <a:lnTo>
                    <a:pt x="10727436" y="201930"/>
                  </a:lnTo>
                  <a:lnTo>
                    <a:pt x="10746486" y="201930"/>
                  </a:lnTo>
                  <a:lnTo>
                    <a:pt x="10746486" y="3305429"/>
                  </a:lnTo>
                  <a:lnTo>
                    <a:pt x="10727436" y="3305429"/>
                  </a:lnTo>
                  <a:lnTo>
                    <a:pt x="10746486" y="3305429"/>
                  </a:lnTo>
                  <a:cubicBezTo>
                    <a:pt x="10746486" y="3417062"/>
                    <a:pt x="10655300" y="3507359"/>
                    <a:pt x="10543159" y="3507359"/>
                  </a:cubicBezTo>
                  <a:lnTo>
                    <a:pt x="10543159" y="3488309"/>
                  </a:lnTo>
                  <a:lnTo>
                    <a:pt x="10543159" y="3507359"/>
                  </a:lnTo>
                  <a:lnTo>
                    <a:pt x="203327" y="3507359"/>
                  </a:lnTo>
                  <a:lnTo>
                    <a:pt x="203327" y="3488309"/>
                  </a:lnTo>
                  <a:lnTo>
                    <a:pt x="203327" y="3507359"/>
                  </a:lnTo>
                  <a:cubicBezTo>
                    <a:pt x="91186" y="3507359"/>
                    <a:pt x="0" y="3417062"/>
                    <a:pt x="0" y="3305429"/>
                  </a:cubicBezTo>
                  <a:lnTo>
                    <a:pt x="0" y="201930"/>
                  </a:lnTo>
                  <a:lnTo>
                    <a:pt x="19050" y="201930"/>
                  </a:lnTo>
                  <a:lnTo>
                    <a:pt x="0" y="201930"/>
                  </a:lnTo>
                  <a:moveTo>
                    <a:pt x="38100" y="201930"/>
                  </a:moveTo>
                  <a:lnTo>
                    <a:pt x="38100" y="3305429"/>
                  </a:lnTo>
                  <a:lnTo>
                    <a:pt x="19050" y="3305429"/>
                  </a:lnTo>
                  <a:lnTo>
                    <a:pt x="38100" y="3305429"/>
                  </a:lnTo>
                  <a:cubicBezTo>
                    <a:pt x="38100" y="3395726"/>
                    <a:pt x="111887" y="3469259"/>
                    <a:pt x="203327" y="3469259"/>
                  </a:cubicBezTo>
                  <a:lnTo>
                    <a:pt x="10543159" y="3469259"/>
                  </a:lnTo>
                  <a:cubicBezTo>
                    <a:pt x="10634472" y="3469259"/>
                    <a:pt x="10708386" y="3395726"/>
                    <a:pt x="10708386" y="3305429"/>
                  </a:cubicBezTo>
                  <a:lnTo>
                    <a:pt x="10708386" y="201930"/>
                  </a:lnTo>
                  <a:cubicBezTo>
                    <a:pt x="10708386" y="111633"/>
                    <a:pt x="10634599" y="38100"/>
                    <a:pt x="10543159" y="38100"/>
                  </a:cubicBezTo>
                  <a:lnTo>
                    <a:pt x="203327" y="38100"/>
                  </a:lnTo>
                  <a:lnTo>
                    <a:pt x="203327" y="19050"/>
                  </a:lnTo>
                  <a:lnTo>
                    <a:pt x="203327" y="38100"/>
                  </a:lnTo>
                  <a:cubicBezTo>
                    <a:pt x="111887" y="38100"/>
                    <a:pt x="38100" y="111633"/>
                    <a:pt x="38100" y="201930"/>
                  </a:cubicBezTo>
                  <a:close/>
                </a:path>
              </a:pathLst>
            </a:custGeom>
            <a:solidFill>
              <a:srgbClr val="DDD3BA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963663" y="2180187"/>
            <a:ext cx="114300" cy="2601963"/>
            <a:chOff x="0" y="0"/>
            <a:chExt cx="152400" cy="3469284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52400" cy="3469259"/>
            </a:xfrm>
            <a:custGeom>
              <a:avLst/>
              <a:gdLst/>
              <a:ahLst/>
              <a:cxnLst/>
              <a:rect l="l" t="t" r="r" b="b"/>
              <a:pathLst>
                <a:path w="152400" h="3469259">
                  <a:moveTo>
                    <a:pt x="0" y="76200"/>
                  </a:moveTo>
                  <a:cubicBezTo>
                    <a:pt x="0" y="34163"/>
                    <a:pt x="34163" y="0"/>
                    <a:pt x="76200" y="0"/>
                  </a:cubicBezTo>
                  <a:cubicBezTo>
                    <a:pt x="118237" y="0"/>
                    <a:pt x="152400" y="34163"/>
                    <a:pt x="152400" y="76200"/>
                  </a:cubicBezTo>
                  <a:lnTo>
                    <a:pt x="152400" y="3393059"/>
                  </a:lnTo>
                  <a:cubicBezTo>
                    <a:pt x="152400" y="3435096"/>
                    <a:pt x="118237" y="3469259"/>
                    <a:pt x="76200" y="3469259"/>
                  </a:cubicBezTo>
                  <a:cubicBezTo>
                    <a:pt x="34163" y="3469259"/>
                    <a:pt x="0" y="3435096"/>
                    <a:pt x="0" y="3393059"/>
                  </a:cubicBezTo>
                  <a:close/>
                </a:path>
              </a:pathLst>
            </a:custGeom>
            <a:solidFill>
              <a:srgbClr val="B88E23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347492" y="2440191"/>
            <a:ext cx="3012434" cy="3860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7"/>
              </a:lnSpc>
            </a:pPr>
            <a:r>
              <a:rPr lang="en-US" sz="2312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The Fatal Impact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347492" y="2894562"/>
            <a:ext cx="7406430" cy="12325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1874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Road traffic crashes tragically claim approximately </a:t>
            </a:r>
            <a:r>
              <a:rPr lang="en-US" sz="1874" b="1">
                <a:solidFill>
                  <a:srgbClr val="454240"/>
                </a:solidFill>
                <a:latin typeface="DM Sans Bold"/>
                <a:ea typeface="DM Sans Bold"/>
                <a:cs typeface="DM Sans Bold"/>
                <a:sym typeface="DM Sans Bold"/>
              </a:rPr>
              <a:t>1.19 million lives globally every year</a:t>
            </a:r>
            <a:r>
              <a:rPr lang="en-US" sz="1874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 (WHO, 2024). This staggering figure highlights the urgent need for enhanced road safety measures.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9250118" y="2165899"/>
            <a:ext cx="8059941" cy="2630538"/>
            <a:chOff x="0" y="0"/>
            <a:chExt cx="10746588" cy="3507384"/>
          </a:xfrm>
        </p:grpSpPr>
        <p:sp>
          <p:nvSpPr>
            <p:cNvPr id="11" name="Freeform 11"/>
            <p:cNvSpPr/>
            <p:nvPr/>
          </p:nvSpPr>
          <p:spPr>
            <a:xfrm>
              <a:off x="19050" y="19050"/>
              <a:ext cx="10708513" cy="3469259"/>
            </a:xfrm>
            <a:custGeom>
              <a:avLst/>
              <a:gdLst/>
              <a:ahLst/>
              <a:cxnLst/>
              <a:rect l="l" t="t" r="r" b="b"/>
              <a:pathLst>
                <a:path w="10708513" h="3469259">
                  <a:moveTo>
                    <a:pt x="0" y="182880"/>
                  </a:moveTo>
                  <a:cubicBezTo>
                    <a:pt x="0" y="81915"/>
                    <a:pt x="82423" y="0"/>
                    <a:pt x="184277" y="0"/>
                  </a:cubicBezTo>
                  <a:lnTo>
                    <a:pt x="10524236" y="0"/>
                  </a:lnTo>
                  <a:cubicBezTo>
                    <a:pt x="10625963" y="0"/>
                    <a:pt x="10708513" y="81915"/>
                    <a:pt x="10708513" y="182880"/>
                  </a:cubicBezTo>
                  <a:lnTo>
                    <a:pt x="10708513" y="3286379"/>
                  </a:lnTo>
                  <a:cubicBezTo>
                    <a:pt x="10708513" y="3387344"/>
                    <a:pt x="10626090" y="3469259"/>
                    <a:pt x="10524236" y="3469259"/>
                  </a:cubicBezTo>
                  <a:lnTo>
                    <a:pt x="184277" y="3469259"/>
                  </a:lnTo>
                  <a:cubicBezTo>
                    <a:pt x="82550" y="3469259"/>
                    <a:pt x="0" y="3387344"/>
                    <a:pt x="0" y="3286379"/>
                  </a:cubicBezTo>
                  <a:close/>
                </a:path>
              </a:pathLst>
            </a:custGeom>
            <a:solidFill>
              <a:srgbClr val="FFFDFA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Freeform 12"/>
            <p:cNvSpPr/>
            <p:nvPr/>
          </p:nvSpPr>
          <p:spPr>
            <a:xfrm>
              <a:off x="0" y="0"/>
              <a:ext cx="10746613" cy="3507359"/>
            </a:xfrm>
            <a:custGeom>
              <a:avLst/>
              <a:gdLst/>
              <a:ahLst/>
              <a:cxnLst/>
              <a:rect l="l" t="t" r="r" b="b"/>
              <a:pathLst>
                <a:path w="10746613" h="3507359">
                  <a:moveTo>
                    <a:pt x="0" y="201930"/>
                  </a:moveTo>
                  <a:cubicBezTo>
                    <a:pt x="0" y="90297"/>
                    <a:pt x="91186" y="0"/>
                    <a:pt x="203327" y="0"/>
                  </a:cubicBezTo>
                  <a:lnTo>
                    <a:pt x="10543286" y="0"/>
                  </a:lnTo>
                  <a:lnTo>
                    <a:pt x="10543286" y="19050"/>
                  </a:lnTo>
                  <a:lnTo>
                    <a:pt x="10543286" y="0"/>
                  </a:lnTo>
                  <a:cubicBezTo>
                    <a:pt x="10655427" y="0"/>
                    <a:pt x="10746613" y="90297"/>
                    <a:pt x="10746613" y="201930"/>
                  </a:cubicBezTo>
                  <a:lnTo>
                    <a:pt x="10727563" y="201930"/>
                  </a:lnTo>
                  <a:lnTo>
                    <a:pt x="10746613" y="201930"/>
                  </a:lnTo>
                  <a:lnTo>
                    <a:pt x="10746613" y="3305429"/>
                  </a:lnTo>
                  <a:lnTo>
                    <a:pt x="10727563" y="3305429"/>
                  </a:lnTo>
                  <a:lnTo>
                    <a:pt x="10746613" y="3305429"/>
                  </a:lnTo>
                  <a:cubicBezTo>
                    <a:pt x="10746613" y="3417062"/>
                    <a:pt x="10655427" y="3507359"/>
                    <a:pt x="10543286" y="3507359"/>
                  </a:cubicBezTo>
                  <a:lnTo>
                    <a:pt x="10543286" y="3488309"/>
                  </a:lnTo>
                  <a:lnTo>
                    <a:pt x="10543286" y="3507359"/>
                  </a:lnTo>
                  <a:lnTo>
                    <a:pt x="203327" y="3507359"/>
                  </a:lnTo>
                  <a:lnTo>
                    <a:pt x="203327" y="3488309"/>
                  </a:lnTo>
                  <a:lnTo>
                    <a:pt x="203327" y="3507359"/>
                  </a:lnTo>
                  <a:cubicBezTo>
                    <a:pt x="91186" y="3507359"/>
                    <a:pt x="0" y="3417062"/>
                    <a:pt x="0" y="3305429"/>
                  </a:cubicBezTo>
                  <a:lnTo>
                    <a:pt x="0" y="201930"/>
                  </a:lnTo>
                  <a:lnTo>
                    <a:pt x="19050" y="201930"/>
                  </a:lnTo>
                  <a:lnTo>
                    <a:pt x="0" y="201930"/>
                  </a:lnTo>
                  <a:moveTo>
                    <a:pt x="38100" y="201930"/>
                  </a:moveTo>
                  <a:lnTo>
                    <a:pt x="38100" y="3305429"/>
                  </a:lnTo>
                  <a:lnTo>
                    <a:pt x="19050" y="3305429"/>
                  </a:lnTo>
                  <a:lnTo>
                    <a:pt x="38100" y="3305429"/>
                  </a:lnTo>
                  <a:cubicBezTo>
                    <a:pt x="38100" y="3395726"/>
                    <a:pt x="111887" y="3469259"/>
                    <a:pt x="203327" y="3469259"/>
                  </a:cubicBezTo>
                  <a:lnTo>
                    <a:pt x="10543286" y="3469259"/>
                  </a:lnTo>
                  <a:cubicBezTo>
                    <a:pt x="10634599" y="3469259"/>
                    <a:pt x="10708513" y="3395726"/>
                    <a:pt x="10708513" y="3305429"/>
                  </a:cubicBezTo>
                  <a:lnTo>
                    <a:pt x="10708513" y="201930"/>
                  </a:lnTo>
                  <a:cubicBezTo>
                    <a:pt x="10708513" y="111633"/>
                    <a:pt x="10634726" y="38100"/>
                    <a:pt x="10543286" y="38100"/>
                  </a:cubicBezTo>
                  <a:lnTo>
                    <a:pt x="203327" y="38100"/>
                  </a:lnTo>
                  <a:lnTo>
                    <a:pt x="203327" y="19050"/>
                  </a:lnTo>
                  <a:lnTo>
                    <a:pt x="203327" y="38100"/>
                  </a:lnTo>
                  <a:cubicBezTo>
                    <a:pt x="111887" y="38100"/>
                    <a:pt x="38100" y="111633"/>
                    <a:pt x="38100" y="201930"/>
                  </a:cubicBezTo>
                  <a:close/>
                </a:path>
              </a:pathLst>
            </a:custGeom>
            <a:solidFill>
              <a:srgbClr val="DDD3BA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235831" y="2180187"/>
            <a:ext cx="114300" cy="2601963"/>
            <a:chOff x="0" y="0"/>
            <a:chExt cx="152400" cy="3469284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52400" cy="3469259"/>
            </a:xfrm>
            <a:custGeom>
              <a:avLst/>
              <a:gdLst/>
              <a:ahLst/>
              <a:cxnLst/>
              <a:rect l="l" t="t" r="r" b="b"/>
              <a:pathLst>
                <a:path w="152400" h="3469259">
                  <a:moveTo>
                    <a:pt x="0" y="76200"/>
                  </a:moveTo>
                  <a:cubicBezTo>
                    <a:pt x="0" y="34163"/>
                    <a:pt x="34163" y="0"/>
                    <a:pt x="76200" y="0"/>
                  </a:cubicBezTo>
                  <a:cubicBezTo>
                    <a:pt x="118237" y="0"/>
                    <a:pt x="152400" y="34163"/>
                    <a:pt x="152400" y="76200"/>
                  </a:cubicBezTo>
                  <a:lnTo>
                    <a:pt x="152400" y="3393059"/>
                  </a:lnTo>
                  <a:cubicBezTo>
                    <a:pt x="152400" y="3435096"/>
                    <a:pt x="118237" y="3469259"/>
                    <a:pt x="76200" y="3469259"/>
                  </a:cubicBezTo>
                  <a:cubicBezTo>
                    <a:pt x="34163" y="3469259"/>
                    <a:pt x="0" y="3435096"/>
                    <a:pt x="0" y="3393059"/>
                  </a:cubicBezTo>
                  <a:close/>
                </a:path>
              </a:pathLst>
            </a:custGeom>
            <a:solidFill>
              <a:srgbClr val="B88E23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9619659" y="2440191"/>
            <a:ext cx="3012434" cy="3860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7"/>
              </a:lnSpc>
            </a:pPr>
            <a:r>
              <a:rPr lang="en-US" sz="2312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The "Silent Killer"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9619659" y="2894562"/>
            <a:ext cx="7406583" cy="16180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1874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Drowsy driving is a primary factor in </a:t>
            </a:r>
            <a:r>
              <a:rPr lang="en-US" sz="1874" b="1">
                <a:solidFill>
                  <a:srgbClr val="454240"/>
                </a:solidFill>
                <a:latin typeface="DM Sans Bold"/>
                <a:ea typeface="DM Sans Bold"/>
                <a:cs typeface="DM Sans Bold"/>
                <a:sym typeface="DM Sans Bold"/>
              </a:rPr>
              <a:t>100,000 police-reported crashes annually</a:t>
            </a:r>
            <a:r>
              <a:rPr lang="en-US" sz="1874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. Recent 2024 studies estimate that nearly </a:t>
            </a:r>
            <a:r>
              <a:rPr lang="en-US" sz="1874" b="1">
                <a:solidFill>
                  <a:srgbClr val="454240"/>
                </a:solidFill>
                <a:latin typeface="DM Sans Bold"/>
                <a:ea typeface="DM Sans Bold"/>
                <a:cs typeface="DM Sans Bold"/>
                <a:sym typeface="DM Sans Bold"/>
              </a:rPr>
              <a:t>17.6% of all fatal crashes</a:t>
            </a:r>
            <a:r>
              <a:rPr lang="en-US" sz="1874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 involve a sleep-deprived driver, making it a significant, yet often overlooked, danger.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977951" y="5008807"/>
            <a:ext cx="8059788" cy="2630538"/>
            <a:chOff x="0" y="0"/>
            <a:chExt cx="10746384" cy="3507384"/>
          </a:xfrm>
        </p:grpSpPr>
        <p:sp>
          <p:nvSpPr>
            <p:cNvPr id="18" name="Freeform 18"/>
            <p:cNvSpPr/>
            <p:nvPr/>
          </p:nvSpPr>
          <p:spPr>
            <a:xfrm>
              <a:off x="19050" y="19050"/>
              <a:ext cx="10708386" cy="3469259"/>
            </a:xfrm>
            <a:custGeom>
              <a:avLst/>
              <a:gdLst/>
              <a:ahLst/>
              <a:cxnLst/>
              <a:rect l="l" t="t" r="r" b="b"/>
              <a:pathLst>
                <a:path w="10708386" h="3469259">
                  <a:moveTo>
                    <a:pt x="0" y="182880"/>
                  </a:moveTo>
                  <a:cubicBezTo>
                    <a:pt x="0" y="81915"/>
                    <a:pt x="82423" y="0"/>
                    <a:pt x="184277" y="0"/>
                  </a:cubicBezTo>
                  <a:lnTo>
                    <a:pt x="10524109" y="0"/>
                  </a:lnTo>
                  <a:cubicBezTo>
                    <a:pt x="10625836" y="0"/>
                    <a:pt x="10708386" y="81915"/>
                    <a:pt x="10708386" y="182880"/>
                  </a:cubicBezTo>
                  <a:lnTo>
                    <a:pt x="10708386" y="3286379"/>
                  </a:lnTo>
                  <a:cubicBezTo>
                    <a:pt x="10708386" y="3387344"/>
                    <a:pt x="10625963" y="3469259"/>
                    <a:pt x="10524109" y="3469259"/>
                  </a:cubicBezTo>
                  <a:lnTo>
                    <a:pt x="184277" y="3469259"/>
                  </a:lnTo>
                  <a:cubicBezTo>
                    <a:pt x="82550" y="3469259"/>
                    <a:pt x="0" y="3387344"/>
                    <a:pt x="0" y="3286379"/>
                  </a:cubicBezTo>
                  <a:close/>
                </a:path>
              </a:pathLst>
            </a:custGeom>
            <a:solidFill>
              <a:srgbClr val="FFFDFA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19"/>
            <p:cNvSpPr/>
            <p:nvPr/>
          </p:nvSpPr>
          <p:spPr>
            <a:xfrm>
              <a:off x="0" y="0"/>
              <a:ext cx="10746486" cy="3507359"/>
            </a:xfrm>
            <a:custGeom>
              <a:avLst/>
              <a:gdLst/>
              <a:ahLst/>
              <a:cxnLst/>
              <a:rect l="l" t="t" r="r" b="b"/>
              <a:pathLst>
                <a:path w="10746486" h="3507359">
                  <a:moveTo>
                    <a:pt x="0" y="201930"/>
                  </a:moveTo>
                  <a:cubicBezTo>
                    <a:pt x="0" y="90297"/>
                    <a:pt x="91186" y="0"/>
                    <a:pt x="203327" y="0"/>
                  </a:cubicBezTo>
                  <a:lnTo>
                    <a:pt x="10543159" y="0"/>
                  </a:lnTo>
                  <a:lnTo>
                    <a:pt x="10543159" y="19050"/>
                  </a:lnTo>
                  <a:lnTo>
                    <a:pt x="10543159" y="0"/>
                  </a:lnTo>
                  <a:cubicBezTo>
                    <a:pt x="10655300" y="0"/>
                    <a:pt x="10746486" y="90297"/>
                    <a:pt x="10746486" y="201930"/>
                  </a:cubicBezTo>
                  <a:lnTo>
                    <a:pt x="10727436" y="201930"/>
                  </a:lnTo>
                  <a:lnTo>
                    <a:pt x="10746486" y="201930"/>
                  </a:lnTo>
                  <a:lnTo>
                    <a:pt x="10746486" y="3305429"/>
                  </a:lnTo>
                  <a:lnTo>
                    <a:pt x="10727436" y="3305429"/>
                  </a:lnTo>
                  <a:lnTo>
                    <a:pt x="10746486" y="3305429"/>
                  </a:lnTo>
                  <a:cubicBezTo>
                    <a:pt x="10746486" y="3417062"/>
                    <a:pt x="10655300" y="3507359"/>
                    <a:pt x="10543159" y="3507359"/>
                  </a:cubicBezTo>
                  <a:lnTo>
                    <a:pt x="10543159" y="3488309"/>
                  </a:lnTo>
                  <a:lnTo>
                    <a:pt x="10543159" y="3507359"/>
                  </a:lnTo>
                  <a:lnTo>
                    <a:pt x="203327" y="3507359"/>
                  </a:lnTo>
                  <a:lnTo>
                    <a:pt x="203327" y="3488309"/>
                  </a:lnTo>
                  <a:lnTo>
                    <a:pt x="203327" y="3507359"/>
                  </a:lnTo>
                  <a:cubicBezTo>
                    <a:pt x="91186" y="3507359"/>
                    <a:pt x="0" y="3417062"/>
                    <a:pt x="0" y="3305429"/>
                  </a:cubicBezTo>
                  <a:lnTo>
                    <a:pt x="0" y="201930"/>
                  </a:lnTo>
                  <a:lnTo>
                    <a:pt x="19050" y="201930"/>
                  </a:lnTo>
                  <a:lnTo>
                    <a:pt x="0" y="201930"/>
                  </a:lnTo>
                  <a:moveTo>
                    <a:pt x="38100" y="201930"/>
                  </a:moveTo>
                  <a:lnTo>
                    <a:pt x="38100" y="3305429"/>
                  </a:lnTo>
                  <a:lnTo>
                    <a:pt x="19050" y="3305429"/>
                  </a:lnTo>
                  <a:lnTo>
                    <a:pt x="38100" y="3305429"/>
                  </a:lnTo>
                  <a:cubicBezTo>
                    <a:pt x="38100" y="3395726"/>
                    <a:pt x="111887" y="3469259"/>
                    <a:pt x="203327" y="3469259"/>
                  </a:cubicBezTo>
                  <a:lnTo>
                    <a:pt x="10543159" y="3469259"/>
                  </a:lnTo>
                  <a:cubicBezTo>
                    <a:pt x="10634472" y="3469259"/>
                    <a:pt x="10708386" y="3395726"/>
                    <a:pt x="10708386" y="3305429"/>
                  </a:cubicBezTo>
                  <a:lnTo>
                    <a:pt x="10708386" y="201930"/>
                  </a:lnTo>
                  <a:cubicBezTo>
                    <a:pt x="10708386" y="111633"/>
                    <a:pt x="10634599" y="38100"/>
                    <a:pt x="10543159" y="38100"/>
                  </a:cubicBezTo>
                  <a:lnTo>
                    <a:pt x="203327" y="38100"/>
                  </a:lnTo>
                  <a:lnTo>
                    <a:pt x="203327" y="19050"/>
                  </a:lnTo>
                  <a:lnTo>
                    <a:pt x="203327" y="38100"/>
                  </a:lnTo>
                  <a:cubicBezTo>
                    <a:pt x="111887" y="38100"/>
                    <a:pt x="38100" y="111633"/>
                    <a:pt x="38100" y="201930"/>
                  </a:cubicBezTo>
                  <a:close/>
                </a:path>
              </a:pathLst>
            </a:custGeom>
            <a:solidFill>
              <a:srgbClr val="DDD3BA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63663" y="5023094"/>
            <a:ext cx="114300" cy="2601963"/>
            <a:chOff x="0" y="0"/>
            <a:chExt cx="152400" cy="3469284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52400" cy="3469259"/>
            </a:xfrm>
            <a:custGeom>
              <a:avLst/>
              <a:gdLst/>
              <a:ahLst/>
              <a:cxnLst/>
              <a:rect l="l" t="t" r="r" b="b"/>
              <a:pathLst>
                <a:path w="152400" h="3469259">
                  <a:moveTo>
                    <a:pt x="0" y="76200"/>
                  </a:moveTo>
                  <a:cubicBezTo>
                    <a:pt x="0" y="34163"/>
                    <a:pt x="34163" y="0"/>
                    <a:pt x="76200" y="0"/>
                  </a:cubicBezTo>
                  <a:cubicBezTo>
                    <a:pt x="118237" y="0"/>
                    <a:pt x="152400" y="34163"/>
                    <a:pt x="152400" y="76200"/>
                  </a:cubicBezTo>
                  <a:lnTo>
                    <a:pt x="152400" y="3393059"/>
                  </a:lnTo>
                  <a:cubicBezTo>
                    <a:pt x="152400" y="3435096"/>
                    <a:pt x="118237" y="3469259"/>
                    <a:pt x="76200" y="3469259"/>
                  </a:cubicBezTo>
                  <a:cubicBezTo>
                    <a:pt x="34163" y="3469259"/>
                    <a:pt x="0" y="3435096"/>
                    <a:pt x="0" y="3393059"/>
                  </a:cubicBezTo>
                  <a:close/>
                </a:path>
              </a:pathLst>
            </a:custGeom>
            <a:solidFill>
              <a:srgbClr val="B88E23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2" name="TextBox 22"/>
          <p:cNvSpPr txBox="1"/>
          <p:nvPr/>
        </p:nvSpPr>
        <p:spPr>
          <a:xfrm>
            <a:off x="1347492" y="5283098"/>
            <a:ext cx="3012434" cy="3860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7"/>
              </a:lnSpc>
            </a:pPr>
            <a:r>
              <a:rPr lang="en-US" sz="2312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The 20-Hour Rule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347492" y="5737469"/>
            <a:ext cx="7406430" cy="16180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1874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Driving after 20 hours without sleep is cognitively equivalent to driving with a </a:t>
            </a:r>
            <a:r>
              <a:rPr lang="en-US" sz="1874" b="1">
                <a:solidFill>
                  <a:srgbClr val="454240"/>
                </a:solidFill>
                <a:latin typeface="DM Sans Bold"/>
                <a:ea typeface="DM Sans Bold"/>
                <a:cs typeface="DM Sans Bold"/>
                <a:sym typeface="DM Sans Bold"/>
              </a:rPr>
              <a:t>Blood Alcohol Concentration (BAC) of 0.08%</a:t>
            </a:r>
            <a:r>
              <a:rPr lang="en-US" sz="1874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—the legal limit for intoxication in many countries. This underscores the profound impairment caused by fatigue.</a:t>
            </a:r>
          </a:p>
        </p:txBody>
      </p:sp>
      <p:grpSp>
        <p:nvGrpSpPr>
          <p:cNvPr id="24" name="Group 24"/>
          <p:cNvGrpSpPr/>
          <p:nvPr/>
        </p:nvGrpSpPr>
        <p:grpSpPr>
          <a:xfrm>
            <a:off x="9250118" y="5008807"/>
            <a:ext cx="8059941" cy="2630538"/>
            <a:chOff x="0" y="0"/>
            <a:chExt cx="10746588" cy="3507384"/>
          </a:xfrm>
        </p:grpSpPr>
        <p:sp>
          <p:nvSpPr>
            <p:cNvPr id="25" name="Freeform 25"/>
            <p:cNvSpPr/>
            <p:nvPr/>
          </p:nvSpPr>
          <p:spPr>
            <a:xfrm>
              <a:off x="19050" y="19050"/>
              <a:ext cx="10708513" cy="3469259"/>
            </a:xfrm>
            <a:custGeom>
              <a:avLst/>
              <a:gdLst/>
              <a:ahLst/>
              <a:cxnLst/>
              <a:rect l="l" t="t" r="r" b="b"/>
              <a:pathLst>
                <a:path w="10708513" h="3469259">
                  <a:moveTo>
                    <a:pt x="0" y="182880"/>
                  </a:moveTo>
                  <a:cubicBezTo>
                    <a:pt x="0" y="81915"/>
                    <a:pt x="82423" y="0"/>
                    <a:pt x="184277" y="0"/>
                  </a:cubicBezTo>
                  <a:lnTo>
                    <a:pt x="10524236" y="0"/>
                  </a:lnTo>
                  <a:cubicBezTo>
                    <a:pt x="10625963" y="0"/>
                    <a:pt x="10708513" y="81915"/>
                    <a:pt x="10708513" y="182880"/>
                  </a:cubicBezTo>
                  <a:lnTo>
                    <a:pt x="10708513" y="3286379"/>
                  </a:lnTo>
                  <a:cubicBezTo>
                    <a:pt x="10708513" y="3387344"/>
                    <a:pt x="10626090" y="3469259"/>
                    <a:pt x="10524236" y="3469259"/>
                  </a:cubicBezTo>
                  <a:lnTo>
                    <a:pt x="184277" y="3469259"/>
                  </a:lnTo>
                  <a:cubicBezTo>
                    <a:pt x="82550" y="3469259"/>
                    <a:pt x="0" y="3387344"/>
                    <a:pt x="0" y="3286379"/>
                  </a:cubicBezTo>
                  <a:close/>
                </a:path>
              </a:pathLst>
            </a:custGeom>
            <a:solidFill>
              <a:srgbClr val="FFFDFA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 26"/>
            <p:cNvSpPr/>
            <p:nvPr/>
          </p:nvSpPr>
          <p:spPr>
            <a:xfrm>
              <a:off x="0" y="0"/>
              <a:ext cx="10746613" cy="3507359"/>
            </a:xfrm>
            <a:custGeom>
              <a:avLst/>
              <a:gdLst/>
              <a:ahLst/>
              <a:cxnLst/>
              <a:rect l="l" t="t" r="r" b="b"/>
              <a:pathLst>
                <a:path w="10746613" h="3507359">
                  <a:moveTo>
                    <a:pt x="0" y="201930"/>
                  </a:moveTo>
                  <a:cubicBezTo>
                    <a:pt x="0" y="90297"/>
                    <a:pt x="91186" y="0"/>
                    <a:pt x="203327" y="0"/>
                  </a:cubicBezTo>
                  <a:lnTo>
                    <a:pt x="10543286" y="0"/>
                  </a:lnTo>
                  <a:lnTo>
                    <a:pt x="10543286" y="19050"/>
                  </a:lnTo>
                  <a:lnTo>
                    <a:pt x="10543286" y="0"/>
                  </a:lnTo>
                  <a:cubicBezTo>
                    <a:pt x="10655427" y="0"/>
                    <a:pt x="10746613" y="90297"/>
                    <a:pt x="10746613" y="201930"/>
                  </a:cubicBezTo>
                  <a:lnTo>
                    <a:pt x="10727563" y="201930"/>
                  </a:lnTo>
                  <a:lnTo>
                    <a:pt x="10746613" y="201930"/>
                  </a:lnTo>
                  <a:lnTo>
                    <a:pt x="10746613" y="3305429"/>
                  </a:lnTo>
                  <a:lnTo>
                    <a:pt x="10727563" y="3305429"/>
                  </a:lnTo>
                  <a:lnTo>
                    <a:pt x="10746613" y="3305429"/>
                  </a:lnTo>
                  <a:cubicBezTo>
                    <a:pt x="10746613" y="3417062"/>
                    <a:pt x="10655427" y="3507359"/>
                    <a:pt x="10543286" y="3507359"/>
                  </a:cubicBezTo>
                  <a:lnTo>
                    <a:pt x="10543286" y="3488309"/>
                  </a:lnTo>
                  <a:lnTo>
                    <a:pt x="10543286" y="3507359"/>
                  </a:lnTo>
                  <a:lnTo>
                    <a:pt x="203327" y="3507359"/>
                  </a:lnTo>
                  <a:lnTo>
                    <a:pt x="203327" y="3488309"/>
                  </a:lnTo>
                  <a:lnTo>
                    <a:pt x="203327" y="3507359"/>
                  </a:lnTo>
                  <a:cubicBezTo>
                    <a:pt x="91186" y="3507359"/>
                    <a:pt x="0" y="3417062"/>
                    <a:pt x="0" y="3305429"/>
                  </a:cubicBezTo>
                  <a:lnTo>
                    <a:pt x="0" y="201930"/>
                  </a:lnTo>
                  <a:lnTo>
                    <a:pt x="19050" y="201930"/>
                  </a:lnTo>
                  <a:lnTo>
                    <a:pt x="0" y="201930"/>
                  </a:lnTo>
                  <a:moveTo>
                    <a:pt x="38100" y="201930"/>
                  </a:moveTo>
                  <a:lnTo>
                    <a:pt x="38100" y="3305429"/>
                  </a:lnTo>
                  <a:lnTo>
                    <a:pt x="19050" y="3305429"/>
                  </a:lnTo>
                  <a:lnTo>
                    <a:pt x="38100" y="3305429"/>
                  </a:lnTo>
                  <a:cubicBezTo>
                    <a:pt x="38100" y="3395726"/>
                    <a:pt x="111887" y="3469259"/>
                    <a:pt x="203327" y="3469259"/>
                  </a:cubicBezTo>
                  <a:lnTo>
                    <a:pt x="10543286" y="3469259"/>
                  </a:lnTo>
                  <a:cubicBezTo>
                    <a:pt x="10634599" y="3469259"/>
                    <a:pt x="10708513" y="3395726"/>
                    <a:pt x="10708513" y="3305429"/>
                  </a:cubicBezTo>
                  <a:lnTo>
                    <a:pt x="10708513" y="201930"/>
                  </a:lnTo>
                  <a:cubicBezTo>
                    <a:pt x="10708513" y="111633"/>
                    <a:pt x="10634726" y="38100"/>
                    <a:pt x="10543286" y="38100"/>
                  </a:cubicBezTo>
                  <a:lnTo>
                    <a:pt x="203327" y="38100"/>
                  </a:lnTo>
                  <a:lnTo>
                    <a:pt x="203327" y="19050"/>
                  </a:lnTo>
                  <a:lnTo>
                    <a:pt x="203327" y="38100"/>
                  </a:lnTo>
                  <a:cubicBezTo>
                    <a:pt x="111887" y="38100"/>
                    <a:pt x="38100" y="111633"/>
                    <a:pt x="38100" y="201930"/>
                  </a:cubicBezTo>
                  <a:close/>
                </a:path>
              </a:pathLst>
            </a:custGeom>
            <a:solidFill>
              <a:srgbClr val="DDD3BA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9235831" y="5023094"/>
            <a:ext cx="114300" cy="2601963"/>
            <a:chOff x="0" y="0"/>
            <a:chExt cx="152400" cy="3469284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152400" cy="3469259"/>
            </a:xfrm>
            <a:custGeom>
              <a:avLst/>
              <a:gdLst/>
              <a:ahLst/>
              <a:cxnLst/>
              <a:rect l="l" t="t" r="r" b="b"/>
              <a:pathLst>
                <a:path w="152400" h="3469259">
                  <a:moveTo>
                    <a:pt x="0" y="76200"/>
                  </a:moveTo>
                  <a:cubicBezTo>
                    <a:pt x="0" y="34163"/>
                    <a:pt x="34163" y="0"/>
                    <a:pt x="76200" y="0"/>
                  </a:cubicBezTo>
                  <a:cubicBezTo>
                    <a:pt x="118237" y="0"/>
                    <a:pt x="152400" y="34163"/>
                    <a:pt x="152400" y="76200"/>
                  </a:cubicBezTo>
                  <a:lnTo>
                    <a:pt x="152400" y="3393059"/>
                  </a:lnTo>
                  <a:cubicBezTo>
                    <a:pt x="152400" y="3435096"/>
                    <a:pt x="118237" y="3469259"/>
                    <a:pt x="76200" y="3469259"/>
                  </a:cubicBezTo>
                  <a:cubicBezTo>
                    <a:pt x="34163" y="3469259"/>
                    <a:pt x="0" y="3435096"/>
                    <a:pt x="0" y="3393059"/>
                  </a:cubicBezTo>
                  <a:close/>
                </a:path>
              </a:pathLst>
            </a:custGeom>
            <a:solidFill>
              <a:srgbClr val="B88E23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9" name="TextBox 29"/>
          <p:cNvSpPr txBox="1"/>
          <p:nvPr/>
        </p:nvSpPr>
        <p:spPr>
          <a:xfrm>
            <a:off x="9619659" y="5283098"/>
            <a:ext cx="3012434" cy="3860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7"/>
              </a:lnSpc>
            </a:pPr>
            <a:r>
              <a:rPr lang="en-US" sz="2312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Economic Toll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9619659" y="5737469"/>
            <a:ext cx="7406583" cy="16180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1874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Fatigue-related accidents impose an immense financial burden, resulting in over </a:t>
            </a:r>
            <a:r>
              <a:rPr lang="en-US" sz="1874" b="1">
                <a:solidFill>
                  <a:srgbClr val="454240"/>
                </a:solidFill>
                <a:latin typeface="DM Sans Bold"/>
                <a:ea typeface="DM Sans Bold"/>
                <a:cs typeface="DM Sans Bold"/>
                <a:sym typeface="DM Sans Bold"/>
              </a:rPr>
              <a:t>$109 billion in societal costs annually</a:t>
            </a:r>
            <a:r>
              <a:rPr lang="en-US" sz="1874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. This includes healthcare expenses, lost productivity, and extensive property damage.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992238" y="7800823"/>
            <a:ext cx="16303523" cy="15409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50"/>
              </a:lnSpc>
            </a:pPr>
            <a:r>
              <a:rPr lang="en-US" sz="2312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Our project aims to develop a </a:t>
            </a:r>
            <a:r>
              <a:rPr lang="en-US" sz="2312" b="1">
                <a:solidFill>
                  <a:srgbClr val="454240"/>
                </a:solidFill>
                <a:latin typeface="DM Sans Bold"/>
                <a:ea typeface="DM Sans Bold"/>
                <a:cs typeface="DM Sans Bold"/>
                <a:sym typeface="DM Sans Bold"/>
              </a:rPr>
              <a:t>real-time, non-intrusive monitoring system</a:t>
            </a:r>
            <a:r>
              <a:rPr lang="en-US" sz="2312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 to detect early signs of fatigue and distraction, intervening before a collision occurs. This proactive approach is critical for saving lives and reducing economic losses.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3332845" y="650536"/>
            <a:ext cx="3977214" cy="10477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75"/>
              </a:lnSpc>
            </a:pPr>
            <a:r>
              <a:rPr lang="en-US" sz="2214">
                <a:solidFill>
                  <a:srgbClr val="5C4E3D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Muhammad Taaha Hashmi</a:t>
            </a:r>
          </a:p>
          <a:p>
            <a:pPr algn="l">
              <a:lnSpc>
                <a:spcPts val="2775"/>
              </a:lnSpc>
            </a:pPr>
            <a:r>
              <a:rPr lang="en-US" sz="2214">
                <a:solidFill>
                  <a:srgbClr val="5C4E3D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Ameer Hamza</a:t>
            </a:r>
          </a:p>
          <a:p>
            <a:pPr algn="l">
              <a:lnSpc>
                <a:spcPts val="2776"/>
              </a:lnSpc>
            </a:pPr>
            <a:r>
              <a:rPr lang="en-US" sz="2214">
                <a:solidFill>
                  <a:srgbClr val="5C4E3D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Abdussalam Sarmad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 descr="preencoded.png"/>
          <p:cNvSpPr/>
          <p:nvPr/>
        </p:nvSpPr>
        <p:spPr>
          <a:xfrm>
            <a:off x="7975328" y="-25672"/>
            <a:ext cx="10312672" cy="10312672"/>
          </a:xfrm>
          <a:custGeom>
            <a:avLst/>
            <a:gdLst/>
            <a:ahLst/>
            <a:cxnLst/>
            <a:rect l="l" t="t" r="r" b="b"/>
            <a:pathLst>
              <a:path w="10312672" h="10312672">
                <a:moveTo>
                  <a:pt x="0" y="0"/>
                </a:moveTo>
                <a:lnTo>
                  <a:pt x="10312672" y="0"/>
                </a:lnTo>
                <a:lnTo>
                  <a:pt x="10312672" y="10312672"/>
                </a:lnTo>
                <a:lnTo>
                  <a:pt x="0" y="1031267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903532" y="2507332"/>
            <a:ext cx="3351778" cy="54025"/>
            <a:chOff x="0" y="0"/>
            <a:chExt cx="6303366" cy="1016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6303391" cy="101600"/>
            </a:xfrm>
            <a:custGeom>
              <a:avLst/>
              <a:gdLst/>
              <a:ahLst/>
              <a:cxnLst/>
              <a:rect l="l" t="t" r="r" b="b"/>
              <a:pathLst>
                <a:path w="6303391" h="101600">
                  <a:moveTo>
                    <a:pt x="0" y="50800"/>
                  </a:moveTo>
                  <a:cubicBezTo>
                    <a:pt x="0" y="22733"/>
                    <a:pt x="22733" y="0"/>
                    <a:pt x="50800" y="0"/>
                  </a:cubicBezTo>
                  <a:lnTo>
                    <a:pt x="6252591" y="0"/>
                  </a:lnTo>
                  <a:cubicBezTo>
                    <a:pt x="6280658" y="0"/>
                    <a:pt x="6303391" y="22733"/>
                    <a:pt x="6303391" y="50800"/>
                  </a:cubicBezTo>
                  <a:cubicBezTo>
                    <a:pt x="6303391" y="78867"/>
                    <a:pt x="6280658" y="101600"/>
                    <a:pt x="6252591" y="101600"/>
                  </a:cubicBezTo>
                  <a:lnTo>
                    <a:pt x="50800" y="101600"/>
                  </a:lnTo>
                  <a:cubicBezTo>
                    <a:pt x="22733" y="101600"/>
                    <a:pt x="0" y="78867"/>
                    <a:pt x="0" y="50800"/>
                  </a:cubicBezTo>
                  <a:close/>
                </a:path>
              </a:pathLst>
            </a:custGeom>
            <a:solidFill>
              <a:srgbClr val="B88E23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2400942" y="2342407"/>
            <a:ext cx="356863" cy="356863"/>
            <a:chOff x="0" y="0"/>
            <a:chExt cx="671119" cy="671119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671068" cy="671068"/>
            </a:xfrm>
            <a:custGeom>
              <a:avLst/>
              <a:gdLst/>
              <a:ahLst/>
              <a:cxnLst/>
              <a:rect l="l" t="t" r="r" b="b"/>
              <a:pathLst>
                <a:path w="671068" h="671068">
                  <a:moveTo>
                    <a:pt x="0" y="335534"/>
                  </a:moveTo>
                  <a:cubicBezTo>
                    <a:pt x="0" y="150241"/>
                    <a:pt x="150241" y="0"/>
                    <a:pt x="335534" y="0"/>
                  </a:cubicBezTo>
                  <a:cubicBezTo>
                    <a:pt x="520827" y="0"/>
                    <a:pt x="671068" y="150241"/>
                    <a:pt x="671068" y="335534"/>
                  </a:cubicBezTo>
                  <a:cubicBezTo>
                    <a:pt x="671068" y="520827"/>
                    <a:pt x="520827" y="671068"/>
                    <a:pt x="335534" y="671068"/>
                  </a:cubicBezTo>
                  <a:cubicBezTo>
                    <a:pt x="150241" y="671068"/>
                    <a:pt x="0" y="520827"/>
                    <a:pt x="0" y="335534"/>
                  </a:cubicBezTo>
                  <a:close/>
                </a:path>
              </a:pathLst>
            </a:custGeom>
            <a:solidFill>
              <a:srgbClr val="B88E23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4374232" y="2507332"/>
            <a:ext cx="3351886" cy="54025"/>
            <a:chOff x="0" y="0"/>
            <a:chExt cx="6303569" cy="1016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6303518" cy="101600"/>
            </a:xfrm>
            <a:custGeom>
              <a:avLst/>
              <a:gdLst/>
              <a:ahLst/>
              <a:cxnLst/>
              <a:rect l="l" t="t" r="r" b="b"/>
              <a:pathLst>
                <a:path w="6303518" h="101600">
                  <a:moveTo>
                    <a:pt x="0" y="50800"/>
                  </a:moveTo>
                  <a:cubicBezTo>
                    <a:pt x="0" y="22733"/>
                    <a:pt x="22733" y="0"/>
                    <a:pt x="50800" y="0"/>
                  </a:cubicBezTo>
                  <a:lnTo>
                    <a:pt x="6252718" y="0"/>
                  </a:lnTo>
                  <a:cubicBezTo>
                    <a:pt x="6280785" y="0"/>
                    <a:pt x="6303518" y="22733"/>
                    <a:pt x="6303518" y="50800"/>
                  </a:cubicBezTo>
                  <a:cubicBezTo>
                    <a:pt x="6303518" y="78867"/>
                    <a:pt x="6280785" y="101600"/>
                    <a:pt x="6252718" y="101600"/>
                  </a:cubicBezTo>
                  <a:lnTo>
                    <a:pt x="50800" y="101600"/>
                  </a:lnTo>
                  <a:cubicBezTo>
                    <a:pt x="22733" y="101600"/>
                    <a:pt x="0" y="78867"/>
                    <a:pt x="0" y="50800"/>
                  </a:cubicBezTo>
                  <a:close/>
                </a:path>
              </a:pathLst>
            </a:custGeom>
            <a:solidFill>
              <a:srgbClr val="B88E23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5871744" y="2342407"/>
            <a:ext cx="356863" cy="356863"/>
            <a:chOff x="0" y="0"/>
            <a:chExt cx="671119" cy="671119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671068" cy="671068"/>
            </a:xfrm>
            <a:custGeom>
              <a:avLst/>
              <a:gdLst/>
              <a:ahLst/>
              <a:cxnLst/>
              <a:rect l="l" t="t" r="r" b="b"/>
              <a:pathLst>
                <a:path w="671068" h="671068">
                  <a:moveTo>
                    <a:pt x="0" y="335534"/>
                  </a:moveTo>
                  <a:cubicBezTo>
                    <a:pt x="0" y="150241"/>
                    <a:pt x="150241" y="0"/>
                    <a:pt x="335534" y="0"/>
                  </a:cubicBezTo>
                  <a:cubicBezTo>
                    <a:pt x="520827" y="0"/>
                    <a:pt x="671068" y="150241"/>
                    <a:pt x="671068" y="335534"/>
                  </a:cubicBezTo>
                  <a:cubicBezTo>
                    <a:pt x="671068" y="520827"/>
                    <a:pt x="520827" y="671068"/>
                    <a:pt x="335534" y="671068"/>
                  </a:cubicBezTo>
                  <a:cubicBezTo>
                    <a:pt x="150241" y="671068"/>
                    <a:pt x="0" y="520827"/>
                    <a:pt x="0" y="335534"/>
                  </a:cubicBezTo>
                  <a:close/>
                </a:path>
              </a:pathLst>
            </a:custGeom>
            <a:solidFill>
              <a:srgbClr val="B88E23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859812" y="6758649"/>
            <a:ext cx="6822579" cy="54025"/>
            <a:chOff x="0" y="0"/>
            <a:chExt cx="12830569" cy="1016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2830556" cy="101600"/>
            </a:xfrm>
            <a:custGeom>
              <a:avLst/>
              <a:gdLst/>
              <a:ahLst/>
              <a:cxnLst/>
              <a:rect l="l" t="t" r="r" b="b"/>
              <a:pathLst>
                <a:path w="12830556" h="101600">
                  <a:moveTo>
                    <a:pt x="0" y="50800"/>
                  </a:moveTo>
                  <a:cubicBezTo>
                    <a:pt x="0" y="22733"/>
                    <a:pt x="22733" y="0"/>
                    <a:pt x="50800" y="0"/>
                  </a:cubicBezTo>
                  <a:lnTo>
                    <a:pt x="12779756" y="0"/>
                  </a:lnTo>
                  <a:cubicBezTo>
                    <a:pt x="12807824" y="0"/>
                    <a:pt x="12830556" y="22733"/>
                    <a:pt x="12830556" y="50800"/>
                  </a:cubicBezTo>
                  <a:cubicBezTo>
                    <a:pt x="12830556" y="78867"/>
                    <a:pt x="12807824" y="101600"/>
                    <a:pt x="12779756" y="101600"/>
                  </a:cubicBezTo>
                  <a:lnTo>
                    <a:pt x="50800" y="101600"/>
                  </a:lnTo>
                  <a:cubicBezTo>
                    <a:pt x="22733" y="101600"/>
                    <a:pt x="0" y="78867"/>
                    <a:pt x="0" y="50800"/>
                  </a:cubicBezTo>
                  <a:close/>
                </a:path>
              </a:pathLst>
            </a:custGeom>
            <a:solidFill>
              <a:srgbClr val="B88E23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4092674" y="6593723"/>
            <a:ext cx="356863" cy="356863"/>
            <a:chOff x="0" y="0"/>
            <a:chExt cx="671119" cy="6711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671068" cy="671068"/>
            </a:xfrm>
            <a:custGeom>
              <a:avLst/>
              <a:gdLst/>
              <a:ahLst/>
              <a:cxnLst/>
              <a:rect l="l" t="t" r="r" b="b"/>
              <a:pathLst>
                <a:path w="671068" h="671068">
                  <a:moveTo>
                    <a:pt x="0" y="335534"/>
                  </a:moveTo>
                  <a:cubicBezTo>
                    <a:pt x="0" y="150241"/>
                    <a:pt x="150241" y="0"/>
                    <a:pt x="335534" y="0"/>
                  </a:cubicBezTo>
                  <a:cubicBezTo>
                    <a:pt x="520827" y="0"/>
                    <a:pt x="671068" y="150241"/>
                    <a:pt x="671068" y="335534"/>
                  </a:cubicBezTo>
                  <a:cubicBezTo>
                    <a:pt x="671068" y="520827"/>
                    <a:pt x="520827" y="671068"/>
                    <a:pt x="335534" y="671068"/>
                  </a:cubicBezTo>
                  <a:cubicBezTo>
                    <a:pt x="150241" y="671068"/>
                    <a:pt x="0" y="520827"/>
                    <a:pt x="0" y="335534"/>
                  </a:cubicBezTo>
                  <a:close/>
                </a:path>
              </a:pathLst>
            </a:custGeom>
            <a:solidFill>
              <a:srgbClr val="B88E23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5" name="Freeform 15"/>
          <p:cNvSpPr/>
          <p:nvPr/>
        </p:nvSpPr>
        <p:spPr>
          <a:xfrm>
            <a:off x="800498" y="3575056"/>
            <a:ext cx="3399173" cy="700593"/>
          </a:xfrm>
          <a:custGeom>
            <a:avLst/>
            <a:gdLst/>
            <a:ahLst/>
            <a:cxnLst/>
            <a:rect l="l" t="t" r="r" b="b"/>
            <a:pathLst>
              <a:path w="3399173" h="700593">
                <a:moveTo>
                  <a:pt x="0" y="0"/>
                </a:moveTo>
                <a:lnTo>
                  <a:pt x="3399173" y="0"/>
                </a:lnTo>
                <a:lnTo>
                  <a:pt x="3399173" y="700593"/>
                </a:lnTo>
                <a:lnTo>
                  <a:pt x="0" y="70059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6" name="Freeform 16"/>
          <p:cNvSpPr/>
          <p:nvPr/>
        </p:nvSpPr>
        <p:spPr>
          <a:xfrm>
            <a:off x="4591402" y="3509745"/>
            <a:ext cx="2993434" cy="836286"/>
          </a:xfrm>
          <a:custGeom>
            <a:avLst/>
            <a:gdLst/>
            <a:ahLst/>
            <a:cxnLst/>
            <a:rect l="l" t="t" r="r" b="b"/>
            <a:pathLst>
              <a:path w="2993434" h="836286">
                <a:moveTo>
                  <a:pt x="0" y="0"/>
                </a:moveTo>
                <a:lnTo>
                  <a:pt x="2993434" y="0"/>
                </a:lnTo>
                <a:lnTo>
                  <a:pt x="2993434" y="836286"/>
                </a:lnTo>
                <a:lnTo>
                  <a:pt x="0" y="83628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7" name="Freeform 17"/>
          <p:cNvSpPr/>
          <p:nvPr/>
        </p:nvSpPr>
        <p:spPr>
          <a:xfrm>
            <a:off x="2064660" y="7310805"/>
            <a:ext cx="3914080" cy="484688"/>
          </a:xfrm>
          <a:custGeom>
            <a:avLst/>
            <a:gdLst/>
            <a:ahLst/>
            <a:cxnLst/>
            <a:rect l="l" t="t" r="r" b="b"/>
            <a:pathLst>
              <a:path w="3914080" h="484688">
                <a:moveTo>
                  <a:pt x="0" y="0"/>
                </a:moveTo>
                <a:lnTo>
                  <a:pt x="3914080" y="0"/>
                </a:lnTo>
                <a:lnTo>
                  <a:pt x="3914080" y="484687"/>
                </a:lnTo>
                <a:lnTo>
                  <a:pt x="0" y="48468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8" name="TextBox 18"/>
          <p:cNvSpPr txBox="1"/>
          <p:nvPr/>
        </p:nvSpPr>
        <p:spPr>
          <a:xfrm>
            <a:off x="992238" y="821084"/>
            <a:ext cx="6733880" cy="8798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625"/>
              </a:lnSpc>
            </a:pPr>
            <a:r>
              <a:rPr lang="en-US" sz="5250">
                <a:solidFill>
                  <a:srgbClr val="5C4E3D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Methodology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2507939" y="2374419"/>
            <a:ext cx="90636" cy="2997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59"/>
              </a:lnSpc>
            </a:pPr>
            <a:r>
              <a:rPr lang="en-US" sz="1599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1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903532" y="2800424"/>
            <a:ext cx="2939899" cy="5269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654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Eye Aspect Ratio (EAR) – Drowsiness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009794" y="4535597"/>
            <a:ext cx="3086926" cy="15628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14"/>
              </a:lnSpc>
            </a:pPr>
            <a:r>
              <a:rPr lang="en-US" sz="1599" b="1">
                <a:solidFill>
                  <a:srgbClr val="454240"/>
                </a:solidFill>
                <a:latin typeface="DM Sans Bold"/>
                <a:ea typeface="DM Sans Bold"/>
                <a:cs typeface="DM Sans Bold"/>
                <a:sym typeface="DM Sans Bold"/>
              </a:rPr>
              <a:t>Points Used:</a:t>
            </a:r>
            <a:r>
              <a:rPr lang="en-US" sz="1599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 Indices [36-41] (Left Eye) and [42-47] (Right Eye).</a:t>
            </a:r>
          </a:p>
          <a:p>
            <a:pPr algn="l">
              <a:lnSpc>
                <a:spcPts val="2514"/>
              </a:lnSpc>
            </a:pPr>
            <a:r>
              <a:rPr lang="en-US" sz="1599" b="1">
                <a:solidFill>
                  <a:srgbClr val="454240"/>
                </a:solidFill>
                <a:latin typeface="DM Sans Bold"/>
                <a:ea typeface="DM Sans Bold"/>
                <a:cs typeface="DM Sans Bold"/>
                <a:sym typeface="DM Sans Bold"/>
              </a:rPr>
              <a:t>Threshold:</a:t>
            </a:r>
            <a:r>
              <a:rPr lang="en-US" sz="1599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 &lt; 0.15 for &gt; 0.5s triggers "EYES CLOSED" alert.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5978740" y="2374419"/>
            <a:ext cx="125164" cy="2997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59"/>
              </a:lnSpc>
            </a:pPr>
            <a:r>
              <a:rPr lang="en-US" sz="1599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2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4506655" y="2808770"/>
            <a:ext cx="3078181" cy="5098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30"/>
              </a:lnSpc>
            </a:pPr>
            <a:r>
              <a:rPr lang="en-US" sz="1599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Mouth Aspect Ratio (MAR) – Fatigue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4506655" y="4500092"/>
            <a:ext cx="3087034" cy="15628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14"/>
              </a:lnSpc>
            </a:pPr>
            <a:r>
              <a:rPr lang="en-US" sz="1599" b="1">
                <a:solidFill>
                  <a:srgbClr val="454240"/>
                </a:solidFill>
                <a:latin typeface="DM Sans Bold"/>
                <a:ea typeface="DM Sans Bold"/>
                <a:cs typeface="DM Sans Bold"/>
                <a:sym typeface="DM Sans Bold"/>
              </a:rPr>
              <a:t>Points Used:</a:t>
            </a:r>
            <a:r>
              <a:rPr lang="en-US" sz="1599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 Inner lip indices [62, 66] for height and [48, 54] for width.</a:t>
            </a:r>
          </a:p>
          <a:p>
            <a:pPr algn="l">
              <a:lnSpc>
                <a:spcPts val="2514"/>
              </a:lnSpc>
            </a:pPr>
            <a:r>
              <a:rPr lang="en-US" sz="1599" b="1">
                <a:solidFill>
                  <a:srgbClr val="454240"/>
                </a:solidFill>
                <a:latin typeface="DM Sans Bold"/>
                <a:ea typeface="DM Sans Bold"/>
                <a:cs typeface="DM Sans Bold"/>
                <a:sym typeface="DM Sans Bold"/>
              </a:rPr>
              <a:t>Threshold:</a:t>
            </a:r>
            <a:r>
              <a:rPr lang="en-US" sz="1599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 &gt; 0.20 for &gt; 0.5s triggers "YAWNING" event.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4199671" y="6625735"/>
            <a:ext cx="125164" cy="2997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59"/>
              </a:lnSpc>
            </a:pPr>
            <a:r>
              <a:rPr lang="en-US" sz="1599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3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992238" y="6979228"/>
            <a:ext cx="4333875" cy="252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30"/>
              </a:lnSpc>
            </a:pPr>
            <a:r>
              <a:rPr lang="en-US" sz="1599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Head Pose Estimation (Yaw) – Distraction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035961" y="7807761"/>
            <a:ext cx="6557728" cy="6198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14"/>
              </a:lnSpc>
            </a:pPr>
            <a:r>
              <a:rPr lang="en-US" sz="1599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Utilises SolvePnP to map 2D landmarks to a 3D head model, identifying head turns away from the road.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027109" y="8503086"/>
            <a:ext cx="6557728" cy="12485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14"/>
              </a:lnSpc>
            </a:pPr>
            <a:r>
              <a:rPr lang="en-US" sz="1599" b="1">
                <a:solidFill>
                  <a:srgbClr val="454240"/>
                </a:solidFill>
                <a:latin typeface="DM Sans Bold"/>
                <a:ea typeface="DM Sans Bold"/>
                <a:cs typeface="DM Sans Bold"/>
                <a:sym typeface="DM Sans Bold"/>
              </a:rPr>
              <a:t>Points Used:</a:t>
            </a:r>
            <a:r>
              <a:rPr lang="en-US" sz="1599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 Nose tip [30], Chin [8], Eye corners [36, 45], Mouth corners [48, 54].</a:t>
            </a:r>
          </a:p>
          <a:p>
            <a:pPr algn="l">
              <a:lnSpc>
                <a:spcPts val="2514"/>
              </a:lnSpc>
            </a:pPr>
            <a:r>
              <a:rPr lang="en-US" sz="1599" b="1">
                <a:solidFill>
                  <a:srgbClr val="454240"/>
                </a:solidFill>
                <a:latin typeface="DM Sans Bold"/>
                <a:ea typeface="DM Sans Bold"/>
                <a:cs typeface="DM Sans Bold"/>
                <a:sym typeface="DM Sans Bold"/>
              </a:rPr>
              <a:t>Threshold:</a:t>
            </a:r>
            <a:r>
              <a:rPr lang="en-US" sz="1599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 Absolute Yaw &gt; 25° for &gt; 10 frames triggers "DISTRACTED" alert.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36127" y="1684120"/>
            <a:ext cx="7069742" cy="1552870"/>
            <a:chOff x="0" y="0"/>
            <a:chExt cx="9426323" cy="207049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9426348" cy="2070608"/>
            </a:xfrm>
            <a:custGeom>
              <a:avLst/>
              <a:gdLst/>
              <a:ahLst/>
              <a:cxnLst/>
              <a:rect l="l" t="t" r="r" b="b"/>
              <a:pathLst>
                <a:path w="9426348" h="2070608">
                  <a:moveTo>
                    <a:pt x="0" y="104267"/>
                  </a:moveTo>
                  <a:cubicBezTo>
                    <a:pt x="0" y="46609"/>
                    <a:pt x="20237" y="0"/>
                    <a:pt x="45123" y="0"/>
                  </a:cubicBezTo>
                  <a:lnTo>
                    <a:pt x="9381210" y="0"/>
                  </a:lnTo>
                  <a:lnTo>
                    <a:pt x="9381210" y="6350"/>
                  </a:lnTo>
                  <a:lnTo>
                    <a:pt x="9381210" y="0"/>
                  </a:lnTo>
                  <a:cubicBezTo>
                    <a:pt x="9406096" y="0"/>
                    <a:pt x="9426348" y="46609"/>
                    <a:pt x="9426348" y="104267"/>
                  </a:cubicBezTo>
                  <a:lnTo>
                    <a:pt x="9423598" y="104267"/>
                  </a:lnTo>
                  <a:lnTo>
                    <a:pt x="9426348" y="104267"/>
                  </a:lnTo>
                  <a:lnTo>
                    <a:pt x="9426348" y="1966341"/>
                  </a:lnTo>
                  <a:lnTo>
                    <a:pt x="9423598" y="1966341"/>
                  </a:lnTo>
                  <a:lnTo>
                    <a:pt x="9426348" y="1966341"/>
                  </a:lnTo>
                  <a:cubicBezTo>
                    <a:pt x="9426348" y="2023872"/>
                    <a:pt x="9406096" y="2070608"/>
                    <a:pt x="9381210" y="2070608"/>
                  </a:cubicBezTo>
                  <a:lnTo>
                    <a:pt x="9381210" y="2064258"/>
                  </a:lnTo>
                  <a:lnTo>
                    <a:pt x="9381210" y="2070608"/>
                  </a:lnTo>
                  <a:lnTo>
                    <a:pt x="45123" y="2070608"/>
                  </a:lnTo>
                  <a:lnTo>
                    <a:pt x="45123" y="2064258"/>
                  </a:lnTo>
                  <a:lnTo>
                    <a:pt x="45123" y="2070608"/>
                  </a:lnTo>
                  <a:cubicBezTo>
                    <a:pt x="20237" y="2070608"/>
                    <a:pt x="0" y="2023999"/>
                    <a:pt x="0" y="1966341"/>
                  </a:cubicBezTo>
                  <a:lnTo>
                    <a:pt x="0" y="104267"/>
                  </a:lnTo>
                  <a:lnTo>
                    <a:pt x="2735" y="104267"/>
                  </a:lnTo>
                  <a:lnTo>
                    <a:pt x="0" y="104267"/>
                  </a:lnTo>
                  <a:moveTo>
                    <a:pt x="5469" y="104267"/>
                  </a:moveTo>
                  <a:lnTo>
                    <a:pt x="5469" y="1966341"/>
                  </a:lnTo>
                  <a:lnTo>
                    <a:pt x="2735" y="1966341"/>
                  </a:lnTo>
                  <a:lnTo>
                    <a:pt x="5469" y="1966341"/>
                  </a:lnTo>
                  <a:cubicBezTo>
                    <a:pt x="5469" y="2016887"/>
                    <a:pt x="23191" y="2057908"/>
                    <a:pt x="45123" y="2057908"/>
                  </a:cubicBezTo>
                  <a:lnTo>
                    <a:pt x="9381210" y="2057908"/>
                  </a:lnTo>
                  <a:cubicBezTo>
                    <a:pt x="9403143" y="2057908"/>
                    <a:pt x="9420864" y="2016887"/>
                    <a:pt x="9420864" y="1966341"/>
                  </a:cubicBezTo>
                  <a:lnTo>
                    <a:pt x="9420864" y="104267"/>
                  </a:lnTo>
                  <a:cubicBezTo>
                    <a:pt x="9420864" y="53721"/>
                    <a:pt x="9403143" y="12700"/>
                    <a:pt x="9381210" y="12700"/>
                  </a:cubicBezTo>
                  <a:lnTo>
                    <a:pt x="45123" y="12700"/>
                  </a:lnTo>
                  <a:lnTo>
                    <a:pt x="45123" y="6350"/>
                  </a:lnTo>
                  <a:lnTo>
                    <a:pt x="45123" y="12700"/>
                  </a:lnTo>
                  <a:cubicBezTo>
                    <a:pt x="23191" y="12700"/>
                    <a:pt x="5469" y="53721"/>
                    <a:pt x="5469" y="104267"/>
                  </a:cubicBezTo>
                  <a:close/>
                </a:path>
              </a:pathLst>
            </a:custGeom>
            <a:solidFill>
              <a:srgbClr val="000000">
                <a:alpha val="392"/>
              </a:srgbClr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942280" y="1698408"/>
            <a:ext cx="7057436" cy="508102"/>
            <a:chOff x="0" y="0"/>
            <a:chExt cx="9409914" cy="67746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9409939" cy="677418"/>
            </a:xfrm>
            <a:custGeom>
              <a:avLst/>
              <a:gdLst/>
              <a:ahLst/>
              <a:cxnLst/>
              <a:rect l="l" t="t" r="r" b="b"/>
              <a:pathLst>
                <a:path w="9409939" h="677418">
                  <a:moveTo>
                    <a:pt x="0" y="0"/>
                  </a:moveTo>
                  <a:lnTo>
                    <a:pt x="9409939" y="0"/>
                  </a:lnTo>
                  <a:lnTo>
                    <a:pt x="9409939" y="677418"/>
                  </a:lnTo>
                  <a:lnTo>
                    <a:pt x="0" y="677418"/>
                  </a:lnTo>
                  <a:close/>
                </a:path>
              </a:pathLst>
            </a:custGeom>
            <a:solidFill>
              <a:srgbClr val="FFFFFF">
                <a:alpha val="0"/>
              </a:srgbClr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942280" y="2206500"/>
            <a:ext cx="7057436" cy="508102"/>
            <a:chOff x="0" y="0"/>
            <a:chExt cx="9409914" cy="677469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9409939" cy="677418"/>
            </a:xfrm>
            <a:custGeom>
              <a:avLst/>
              <a:gdLst/>
              <a:ahLst/>
              <a:cxnLst/>
              <a:rect l="l" t="t" r="r" b="b"/>
              <a:pathLst>
                <a:path w="9409939" h="677418">
                  <a:moveTo>
                    <a:pt x="0" y="0"/>
                  </a:moveTo>
                  <a:lnTo>
                    <a:pt x="9409939" y="0"/>
                  </a:lnTo>
                  <a:lnTo>
                    <a:pt x="9409939" y="677418"/>
                  </a:lnTo>
                  <a:lnTo>
                    <a:pt x="0" y="67741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42280" y="2714602"/>
            <a:ext cx="7057436" cy="508102"/>
            <a:chOff x="0" y="0"/>
            <a:chExt cx="9409914" cy="67746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9409939" cy="677418"/>
            </a:xfrm>
            <a:custGeom>
              <a:avLst/>
              <a:gdLst/>
              <a:ahLst/>
              <a:cxnLst/>
              <a:rect l="l" t="t" r="r" b="b"/>
              <a:pathLst>
                <a:path w="9409939" h="677418">
                  <a:moveTo>
                    <a:pt x="0" y="0"/>
                  </a:moveTo>
                  <a:lnTo>
                    <a:pt x="9409939" y="0"/>
                  </a:lnTo>
                  <a:lnTo>
                    <a:pt x="9409939" y="677418"/>
                  </a:lnTo>
                  <a:lnTo>
                    <a:pt x="0" y="677418"/>
                  </a:lnTo>
                  <a:close/>
                </a:path>
              </a:pathLst>
            </a:custGeom>
            <a:solidFill>
              <a:srgbClr val="FFFFFF">
                <a:alpha val="0"/>
              </a:srgbClr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36127" y="8098784"/>
            <a:ext cx="16415747" cy="1314898"/>
            <a:chOff x="0" y="0"/>
            <a:chExt cx="21887663" cy="1753197"/>
          </a:xfrm>
        </p:grpSpPr>
        <p:sp>
          <p:nvSpPr>
            <p:cNvPr id="11" name="Freeform 11"/>
            <p:cNvSpPr/>
            <p:nvPr/>
          </p:nvSpPr>
          <p:spPr>
            <a:xfrm>
              <a:off x="6350" y="6350"/>
              <a:ext cx="21874989" cy="1740535"/>
            </a:xfrm>
            <a:custGeom>
              <a:avLst/>
              <a:gdLst/>
              <a:ahLst/>
              <a:cxnLst/>
              <a:rect l="l" t="t" r="r" b="b"/>
              <a:pathLst>
                <a:path w="21874989" h="1740535">
                  <a:moveTo>
                    <a:pt x="0" y="97917"/>
                  </a:moveTo>
                  <a:cubicBezTo>
                    <a:pt x="0" y="43815"/>
                    <a:pt x="44069" y="0"/>
                    <a:pt x="98552" y="0"/>
                  </a:cubicBezTo>
                  <a:lnTo>
                    <a:pt x="21776437" y="0"/>
                  </a:lnTo>
                  <a:cubicBezTo>
                    <a:pt x="21830793" y="0"/>
                    <a:pt x="21874989" y="43815"/>
                    <a:pt x="21874989" y="97917"/>
                  </a:cubicBezTo>
                  <a:lnTo>
                    <a:pt x="21874989" y="1642618"/>
                  </a:lnTo>
                  <a:cubicBezTo>
                    <a:pt x="21874989" y="1696720"/>
                    <a:pt x="21830920" y="1740535"/>
                    <a:pt x="21776437" y="1740535"/>
                  </a:cubicBezTo>
                  <a:lnTo>
                    <a:pt x="98552" y="1740535"/>
                  </a:lnTo>
                  <a:cubicBezTo>
                    <a:pt x="44196" y="1740535"/>
                    <a:pt x="0" y="1696720"/>
                    <a:pt x="0" y="1642618"/>
                  </a:cubicBezTo>
                  <a:close/>
                </a:path>
              </a:pathLst>
            </a:custGeom>
            <a:solidFill>
              <a:srgbClr val="F7EDD4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Freeform 12"/>
            <p:cNvSpPr/>
            <p:nvPr/>
          </p:nvSpPr>
          <p:spPr>
            <a:xfrm>
              <a:off x="0" y="0"/>
              <a:ext cx="21887689" cy="1753235"/>
            </a:xfrm>
            <a:custGeom>
              <a:avLst/>
              <a:gdLst/>
              <a:ahLst/>
              <a:cxnLst/>
              <a:rect l="l" t="t" r="r" b="b"/>
              <a:pathLst>
                <a:path w="21887689" h="1753235">
                  <a:moveTo>
                    <a:pt x="0" y="104267"/>
                  </a:moveTo>
                  <a:cubicBezTo>
                    <a:pt x="0" y="46609"/>
                    <a:pt x="46990" y="0"/>
                    <a:pt x="104902" y="0"/>
                  </a:cubicBezTo>
                  <a:lnTo>
                    <a:pt x="21782787" y="0"/>
                  </a:lnTo>
                  <a:lnTo>
                    <a:pt x="21782787" y="6350"/>
                  </a:lnTo>
                  <a:lnTo>
                    <a:pt x="21782787" y="0"/>
                  </a:lnTo>
                  <a:cubicBezTo>
                    <a:pt x="21840699" y="0"/>
                    <a:pt x="21887689" y="46609"/>
                    <a:pt x="21887689" y="104267"/>
                  </a:cubicBezTo>
                  <a:lnTo>
                    <a:pt x="21881339" y="104267"/>
                  </a:lnTo>
                  <a:lnTo>
                    <a:pt x="21887689" y="104267"/>
                  </a:lnTo>
                  <a:lnTo>
                    <a:pt x="21887689" y="1648968"/>
                  </a:lnTo>
                  <a:lnTo>
                    <a:pt x="21881339" y="1648968"/>
                  </a:lnTo>
                  <a:lnTo>
                    <a:pt x="21887689" y="1648968"/>
                  </a:lnTo>
                  <a:cubicBezTo>
                    <a:pt x="21887689" y="1706626"/>
                    <a:pt x="21840699" y="1753235"/>
                    <a:pt x="21782787" y="1753235"/>
                  </a:cubicBezTo>
                  <a:lnTo>
                    <a:pt x="21782787" y="1746885"/>
                  </a:lnTo>
                  <a:lnTo>
                    <a:pt x="21782787" y="1753235"/>
                  </a:lnTo>
                  <a:lnTo>
                    <a:pt x="104902" y="1753235"/>
                  </a:lnTo>
                  <a:lnTo>
                    <a:pt x="104902" y="1746885"/>
                  </a:lnTo>
                  <a:lnTo>
                    <a:pt x="104902" y="1753235"/>
                  </a:lnTo>
                  <a:cubicBezTo>
                    <a:pt x="46990" y="1753235"/>
                    <a:pt x="0" y="1706626"/>
                    <a:pt x="0" y="1648968"/>
                  </a:cubicBezTo>
                  <a:lnTo>
                    <a:pt x="0" y="104267"/>
                  </a:lnTo>
                  <a:lnTo>
                    <a:pt x="6350" y="104267"/>
                  </a:lnTo>
                  <a:lnTo>
                    <a:pt x="0" y="104267"/>
                  </a:lnTo>
                  <a:moveTo>
                    <a:pt x="12700" y="104267"/>
                  </a:moveTo>
                  <a:lnTo>
                    <a:pt x="12700" y="1648968"/>
                  </a:lnTo>
                  <a:lnTo>
                    <a:pt x="6350" y="1648968"/>
                  </a:lnTo>
                  <a:lnTo>
                    <a:pt x="12700" y="1648968"/>
                  </a:lnTo>
                  <a:cubicBezTo>
                    <a:pt x="12700" y="1699514"/>
                    <a:pt x="53975" y="1740535"/>
                    <a:pt x="104902" y="1740535"/>
                  </a:cubicBezTo>
                  <a:lnTo>
                    <a:pt x="21782787" y="1740535"/>
                  </a:lnTo>
                  <a:cubicBezTo>
                    <a:pt x="21833714" y="1740535"/>
                    <a:pt x="21874989" y="1699514"/>
                    <a:pt x="21874989" y="1648968"/>
                  </a:cubicBezTo>
                  <a:lnTo>
                    <a:pt x="21874989" y="104267"/>
                  </a:lnTo>
                  <a:cubicBezTo>
                    <a:pt x="21874989" y="53721"/>
                    <a:pt x="21833714" y="12700"/>
                    <a:pt x="21782787" y="12700"/>
                  </a:cubicBezTo>
                  <a:lnTo>
                    <a:pt x="104902" y="12700"/>
                  </a:lnTo>
                  <a:lnTo>
                    <a:pt x="104902" y="6350"/>
                  </a:lnTo>
                  <a:lnTo>
                    <a:pt x="104902" y="12700"/>
                  </a:lnTo>
                  <a:cubicBezTo>
                    <a:pt x="53975" y="12700"/>
                    <a:pt x="12700" y="53721"/>
                    <a:pt x="12700" y="104267"/>
                  </a:cubicBezTo>
                  <a:close/>
                </a:path>
              </a:pathLst>
            </a:custGeom>
            <a:solidFill>
              <a:srgbClr val="DDD3BA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50414" y="8113071"/>
            <a:ext cx="8193586" cy="1286323"/>
            <a:chOff x="0" y="0"/>
            <a:chExt cx="10924781" cy="1715097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0924794" cy="1715135"/>
            </a:xfrm>
            <a:custGeom>
              <a:avLst/>
              <a:gdLst/>
              <a:ahLst/>
              <a:cxnLst/>
              <a:rect l="l" t="t" r="r" b="b"/>
              <a:pathLst>
                <a:path w="10924794" h="1715135">
                  <a:moveTo>
                    <a:pt x="0" y="97917"/>
                  </a:moveTo>
                  <a:cubicBezTo>
                    <a:pt x="0" y="43815"/>
                    <a:pt x="43815" y="0"/>
                    <a:pt x="97917" y="0"/>
                  </a:cubicBezTo>
                  <a:lnTo>
                    <a:pt x="10826877" y="0"/>
                  </a:lnTo>
                  <a:cubicBezTo>
                    <a:pt x="10880979" y="0"/>
                    <a:pt x="10924794" y="43815"/>
                    <a:pt x="10924794" y="97917"/>
                  </a:cubicBezTo>
                  <a:lnTo>
                    <a:pt x="10924794" y="1617218"/>
                  </a:lnTo>
                  <a:cubicBezTo>
                    <a:pt x="10924794" y="1671320"/>
                    <a:pt x="10880979" y="1715135"/>
                    <a:pt x="10826877" y="1715135"/>
                  </a:cubicBezTo>
                  <a:lnTo>
                    <a:pt x="97917" y="1715135"/>
                  </a:lnTo>
                  <a:cubicBezTo>
                    <a:pt x="43815" y="1715135"/>
                    <a:pt x="0" y="1671320"/>
                    <a:pt x="0" y="1617218"/>
                  </a:cubicBezTo>
                  <a:close/>
                </a:path>
              </a:pathLst>
            </a:custGeom>
            <a:solidFill>
              <a:srgbClr val="F7EDD4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9144000" y="8113071"/>
            <a:ext cx="8193586" cy="1286323"/>
            <a:chOff x="0" y="0"/>
            <a:chExt cx="10924781" cy="1715097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0924794" cy="1715135"/>
            </a:xfrm>
            <a:custGeom>
              <a:avLst/>
              <a:gdLst/>
              <a:ahLst/>
              <a:cxnLst/>
              <a:rect l="l" t="t" r="r" b="b"/>
              <a:pathLst>
                <a:path w="10924794" h="1715135">
                  <a:moveTo>
                    <a:pt x="0" y="0"/>
                  </a:moveTo>
                  <a:lnTo>
                    <a:pt x="10924794" y="0"/>
                  </a:lnTo>
                  <a:lnTo>
                    <a:pt x="10924794" y="1715135"/>
                  </a:lnTo>
                  <a:lnTo>
                    <a:pt x="0" y="1715135"/>
                  </a:lnTo>
                  <a:close/>
                </a:path>
              </a:pathLst>
            </a:custGeom>
            <a:solidFill>
              <a:srgbClr val="F7EDD4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144000" y="8113071"/>
            <a:ext cx="19050" cy="1286323"/>
            <a:chOff x="0" y="0"/>
            <a:chExt cx="25400" cy="1715097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25400" cy="1715135"/>
            </a:xfrm>
            <a:custGeom>
              <a:avLst/>
              <a:gdLst/>
              <a:ahLst/>
              <a:cxnLst/>
              <a:rect l="l" t="t" r="r" b="b"/>
              <a:pathLst>
                <a:path w="25400" h="1715135">
                  <a:moveTo>
                    <a:pt x="0" y="12700"/>
                  </a:moveTo>
                  <a:cubicBezTo>
                    <a:pt x="0" y="5715"/>
                    <a:pt x="5715" y="0"/>
                    <a:pt x="12700" y="0"/>
                  </a:cubicBezTo>
                  <a:cubicBezTo>
                    <a:pt x="19685" y="0"/>
                    <a:pt x="25400" y="5715"/>
                    <a:pt x="25400" y="12700"/>
                  </a:cubicBezTo>
                  <a:lnTo>
                    <a:pt x="25400" y="1702435"/>
                  </a:lnTo>
                  <a:cubicBezTo>
                    <a:pt x="25400" y="1709420"/>
                    <a:pt x="19685" y="1715135"/>
                    <a:pt x="12700" y="1715135"/>
                  </a:cubicBezTo>
                  <a:cubicBezTo>
                    <a:pt x="5715" y="1715135"/>
                    <a:pt x="0" y="1709420"/>
                    <a:pt x="0" y="1702435"/>
                  </a:cubicBezTo>
                  <a:close/>
                </a:path>
              </a:pathLst>
            </a:custGeom>
            <a:solidFill>
              <a:srgbClr val="DDD3BA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9" name="Freeform 19"/>
          <p:cNvSpPr/>
          <p:nvPr/>
        </p:nvSpPr>
        <p:spPr>
          <a:xfrm>
            <a:off x="9065714" y="877938"/>
            <a:ext cx="8193586" cy="6523803"/>
          </a:xfrm>
          <a:custGeom>
            <a:avLst/>
            <a:gdLst/>
            <a:ahLst/>
            <a:cxnLst/>
            <a:rect l="l" t="t" r="r" b="b"/>
            <a:pathLst>
              <a:path w="8193586" h="6523803">
                <a:moveTo>
                  <a:pt x="0" y="0"/>
                </a:moveTo>
                <a:lnTo>
                  <a:pt x="8193586" y="0"/>
                </a:lnTo>
                <a:lnTo>
                  <a:pt x="8193586" y="6523803"/>
                </a:lnTo>
                <a:lnTo>
                  <a:pt x="0" y="652380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0" name="TextBox 20"/>
          <p:cNvSpPr txBox="1"/>
          <p:nvPr/>
        </p:nvSpPr>
        <p:spPr>
          <a:xfrm>
            <a:off x="940889" y="868413"/>
            <a:ext cx="6983577" cy="52873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250"/>
              </a:lnSpc>
            </a:pPr>
            <a:r>
              <a:rPr lang="en-US" sz="3437" dirty="0">
                <a:solidFill>
                  <a:srgbClr val="5C4E3D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Results &amp; Accuracy Analysis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017529" y="1746033"/>
            <a:ext cx="1611812" cy="3392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63"/>
              </a:lnSpc>
            </a:pPr>
            <a:r>
              <a:rPr lang="en-US" sz="1800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Drowsiness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2783937" y="1746033"/>
            <a:ext cx="1609760" cy="3392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63"/>
              </a:lnSpc>
            </a:pPr>
            <a:r>
              <a:rPr lang="en-US" sz="1800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94%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4548298" y="1746033"/>
            <a:ext cx="3376168" cy="3392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63"/>
              </a:lnSpc>
            </a:pPr>
            <a:r>
              <a:rPr lang="en-US" sz="1800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EAR &lt; 0.15 for &gt; 0.5s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017529" y="2254125"/>
            <a:ext cx="1611812" cy="3392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63"/>
              </a:lnSpc>
            </a:pPr>
            <a:r>
              <a:rPr lang="en-US" sz="1800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Fatigue (Yawn)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2783937" y="2254125"/>
            <a:ext cx="1609760" cy="3392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63"/>
              </a:lnSpc>
            </a:pPr>
            <a:r>
              <a:rPr lang="en-US" sz="1800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91%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4548298" y="2254125"/>
            <a:ext cx="3376168" cy="3392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63"/>
              </a:lnSpc>
            </a:pPr>
            <a:r>
              <a:rPr lang="en-US" sz="1800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MAR &gt; 0.20 for &gt; 0.5s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017529" y="2762227"/>
            <a:ext cx="1611812" cy="3392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63"/>
              </a:lnSpc>
            </a:pPr>
            <a:r>
              <a:rPr lang="en-US" sz="1800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Distraction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2783937" y="2762227"/>
            <a:ext cx="1609760" cy="3392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63"/>
              </a:lnSpc>
            </a:pPr>
            <a:r>
              <a:rPr lang="en-US" sz="1800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88%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4548298" y="2762227"/>
            <a:ext cx="3376168" cy="3392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63"/>
              </a:lnSpc>
            </a:pPr>
            <a:r>
              <a:rPr lang="en-US" sz="1800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Head Yaw &gt; 25° for 10+ frames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125141" y="8278263"/>
            <a:ext cx="2184349" cy="2826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24"/>
              </a:lnSpc>
            </a:pPr>
            <a:r>
              <a:rPr lang="en-US" sz="1687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Stable Frame Rate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125141" y="8618039"/>
            <a:ext cx="7844133" cy="6066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87"/>
              </a:lnSpc>
            </a:pPr>
            <a:r>
              <a:rPr lang="en-US" sz="1375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The system consistently maintains a stable </a:t>
            </a:r>
            <a:r>
              <a:rPr lang="en-US" sz="1375" b="1">
                <a:solidFill>
                  <a:srgbClr val="454240"/>
                </a:solidFill>
                <a:latin typeface="DM Sans Bold"/>
                <a:ea typeface="DM Sans Bold"/>
                <a:cs typeface="DM Sans Bold"/>
                <a:sym typeface="DM Sans Bold"/>
              </a:rPr>
              <a:t>25–30 FPS</a:t>
            </a:r>
            <a:r>
              <a:rPr lang="en-US" sz="1375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 on standard CPU hardware, guaranteeing smooth and continuous monitoring without requiring specialised hardware.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9318727" y="8278263"/>
            <a:ext cx="2184349" cy="2826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24"/>
              </a:lnSpc>
            </a:pPr>
            <a:r>
              <a:rPr lang="en-US" sz="1687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Low Latency Alerts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9318727" y="8618039"/>
            <a:ext cx="7844133" cy="6066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87"/>
              </a:lnSpc>
            </a:pPr>
            <a:r>
              <a:rPr lang="en-US" sz="1375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With a remarkably low latency of </a:t>
            </a:r>
            <a:r>
              <a:rPr lang="en-US" sz="1375" b="1">
                <a:solidFill>
                  <a:srgbClr val="454240"/>
                </a:solidFill>
                <a:latin typeface="DM Sans Bold"/>
                <a:ea typeface="DM Sans Bold"/>
                <a:cs typeface="DM Sans Bold"/>
                <a:sym typeface="DM Sans Bold"/>
              </a:rPr>
              <a:t>less than 150 milliseconds</a:t>
            </a:r>
            <a:r>
              <a:rPr lang="en-US" sz="1375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, the system provides immediate driver alerts, enabling timely intervention and significantly enhancing road safety.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936127" y="3503691"/>
            <a:ext cx="4308260" cy="3487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46"/>
              </a:lnSpc>
            </a:pPr>
            <a:r>
              <a:rPr lang="en-US" sz="2111">
                <a:solidFill>
                  <a:srgbClr val="5C4E3D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Future Scope &amp; Enhancements</a:t>
            </a:r>
          </a:p>
        </p:txBody>
      </p:sp>
      <p:sp>
        <p:nvSpPr>
          <p:cNvPr id="35" name="Freeform 35" descr="preencoded.png"/>
          <p:cNvSpPr/>
          <p:nvPr/>
        </p:nvSpPr>
        <p:spPr>
          <a:xfrm>
            <a:off x="395059" y="4077365"/>
            <a:ext cx="325685" cy="325685"/>
          </a:xfrm>
          <a:custGeom>
            <a:avLst/>
            <a:gdLst/>
            <a:ahLst/>
            <a:cxnLst/>
            <a:rect l="l" t="t" r="r" b="b"/>
            <a:pathLst>
              <a:path w="325685" h="325685">
                <a:moveTo>
                  <a:pt x="0" y="0"/>
                </a:moveTo>
                <a:lnTo>
                  <a:pt x="325685" y="0"/>
                </a:lnTo>
                <a:lnTo>
                  <a:pt x="325685" y="325685"/>
                </a:lnTo>
                <a:lnTo>
                  <a:pt x="0" y="32568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t="-1973" b="-1974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6" name="TextBox 36"/>
          <p:cNvSpPr txBox="1"/>
          <p:nvPr/>
        </p:nvSpPr>
        <p:spPr>
          <a:xfrm>
            <a:off x="975523" y="4150897"/>
            <a:ext cx="2199084" cy="2347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31"/>
              </a:lnSpc>
            </a:pPr>
            <a:r>
              <a:rPr lang="en-US" sz="1441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Night Vision Capability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395059" y="4631650"/>
            <a:ext cx="2357568" cy="12226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91"/>
              </a:lnSpc>
            </a:pPr>
            <a:r>
              <a:rPr lang="en-US" sz="1244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Integrating Infrared (IR) sensors will enable the system to function reliably in low-light and nighttime driving conditions, addressing a critical safety gap.</a:t>
            </a:r>
          </a:p>
        </p:txBody>
      </p:sp>
      <p:sp>
        <p:nvSpPr>
          <p:cNvPr id="38" name="Freeform 38" descr="preencoded.png"/>
          <p:cNvSpPr/>
          <p:nvPr/>
        </p:nvSpPr>
        <p:spPr>
          <a:xfrm>
            <a:off x="3429386" y="4069522"/>
            <a:ext cx="325685" cy="325685"/>
          </a:xfrm>
          <a:custGeom>
            <a:avLst/>
            <a:gdLst/>
            <a:ahLst/>
            <a:cxnLst/>
            <a:rect l="l" t="t" r="r" b="b"/>
            <a:pathLst>
              <a:path w="325685" h="325685">
                <a:moveTo>
                  <a:pt x="0" y="0"/>
                </a:moveTo>
                <a:lnTo>
                  <a:pt x="325684" y="0"/>
                </a:lnTo>
                <a:lnTo>
                  <a:pt x="325684" y="325684"/>
                </a:lnTo>
                <a:lnTo>
                  <a:pt x="0" y="32568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t="-657" b="-658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9" name="TextBox 39"/>
          <p:cNvSpPr txBox="1"/>
          <p:nvPr/>
        </p:nvSpPr>
        <p:spPr>
          <a:xfrm>
            <a:off x="3825462" y="4128667"/>
            <a:ext cx="1903422" cy="463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31"/>
              </a:lnSpc>
            </a:pPr>
            <a:r>
              <a:rPr lang="en-US" sz="1441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Edge Computing Deployment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3309490" y="4719215"/>
            <a:ext cx="2702805" cy="12226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91"/>
              </a:lnSpc>
            </a:pPr>
            <a:r>
              <a:rPr lang="en-US" sz="1244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Optimising the model for embedded hardware, like Raspberry Pi or NVIDIA Jetson, will enable standalone, in-car operation without external processing power.</a:t>
            </a:r>
          </a:p>
        </p:txBody>
      </p:sp>
      <p:sp>
        <p:nvSpPr>
          <p:cNvPr id="41" name="Freeform 41" descr="preencoded.png"/>
          <p:cNvSpPr/>
          <p:nvPr/>
        </p:nvSpPr>
        <p:spPr>
          <a:xfrm>
            <a:off x="6132191" y="4069681"/>
            <a:ext cx="325685" cy="325685"/>
          </a:xfrm>
          <a:custGeom>
            <a:avLst/>
            <a:gdLst/>
            <a:ahLst/>
            <a:cxnLst/>
            <a:rect l="l" t="t" r="r" b="b"/>
            <a:pathLst>
              <a:path w="325685" h="325685">
                <a:moveTo>
                  <a:pt x="0" y="0"/>
                </a:moveTo>
                <a:lnTo>
                  <a:pt x="325684" y="0"/>
                </a:lnTo>
                <a:lnTo>
                  <a:pt x="325684" y="325684"/>
                </a:lnTo>
                <a:lnTo>
                  <a:pt x="0" y="32568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-24341" r="-24343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2" name="TextBox 42"/>
          <p:cNvSpPr txBox="1"/>
          <p:nvPr/>
        </p:nvSpPr>
        <p:spPr>
          <a:xfrm>
            <a:off x="6667425" y="4113291"/>
            <a:ext cx="1365052" cy="2347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31"/>
              </a:lnSpc>
            </a:pPr>
            <a:r>
              <a:rPr lang="en-US" sz="1441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Gaze Tracking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6236382" y="4631650"/>
            <a:ext cx="2674240" cy="12226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91"/>
              </a:lnSpc>
            </a:pPr>
            <a:r>
              <a:rPr lang="en-US" sz="1244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Enhancing distraction detection by tracking precise pupil movement, rather than just head orientation, will provide more granular insights into driver attention.</a:t>
            </a:r>
          </a:p>
        </p:txBody>
      </p:sp>
      <p:sp>
        <p:nvSpPr>
          <p:cNvPr id="44" name="Freeform 44" descr="preencoded.png"/>
          <p:cNvSpPr/>
          <p:nvPr/>
        </p:nvSpPr>
        <p:spPr>
          <a:xfrm>
            <a:off x="854687" y="6332389"/>
            <a:ext cx="325685" cy="325685"/>
          </a:xfrm>
          <a:custGeom>
            <a:avLst/>
            <a:gdLst/>
            <a:ahLst/>
            <a:cxnLst/>
            <a:rect l="l" t="t" r="r" b="b"/>
            <a:pathLst>
              <a:path w="325685" h="325685">
                <a:moveTo>
                  <a:pt x="0" y="0"/>
                </a:moveTo>
                <a:lnTo>
                  <a:pt x="325684" y="0"/>
                </a:lnTo>
                <a:lnTo>
                  <a:pt x="325684" y="325685"/>
                </a:lnTo>
                <a:lnTo>
                  <a:pt x="0" y="32568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-657" r="-658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5" name="TextBox 45"/>
          <p:cNvSpPr txBox="1"/>
          <p:nvPr/>
        </p:nvSpPr>
        <p:spPr>
          <a:xfrm>
            <a:off x="1469540" y="6398905"/>
            <a:ext cx="2058293" cy="2347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31"/>
              </a:lnSpc>
            </a:pPr>
            <a:r>
              <a:rPr lang="en-US" sz="1441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Haptic &amp; Audio Alerts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840397" y="6836085"/>
            <a:ext cx="3112749" cy="9749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91"/>
              </a:lnSpc>
            </a:pPr>
            <a:r>
              <a:rPr lang="en-US" sz="1244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Connecting the detection logic to in-car hardware will allow for immediate, localised alerts through steering wheel vibrations or targeted audio warnings.</a:t>
            </a:r>
          </a:p>
        </p:txBody>
      </p:sp>
      <p:sp>
        <p:nvSpPr>
          <p:cNvPr id="47" name="Freeform 47" descr="preencoded.png"/>
          <p:cNvSpPr/>
          <p:nvPr/>
        </p:nvSpPr>
        <p:spPr>
          <a:xfrm>
            <a:off x="5566042" y="6262750"/>
            <a:ext cx="325685" cy="325685"/>
          </a:xfrm>
          <a:custGeom>
            <a:avLst/>
            <a:gdLst/>
            <a:ahLst/>
            <a:cxnLst/>
            <a:rect l="l" t="t" r="r" b="b"/>
            <a:pathLst>
              <a:path w="325685" h="325685">
                <a:moveTo>
                  <a:pt x="0" y="0"/>
                </a:moveTo>
                <a:lnTo>
                  <a:pt x="325685" y="0"/>
                </a:lnTo>
                <a:lnTo>
                  <a:pt x="325685" y="325685"/>
                </a:lnTo>
                <a:lnTo>
                  <a:pt x="0" y="325685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t="-7895" b="-7895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8" name="TextBox 48"/>
          <p:cNvSpPr txBox="1"/>
          <p:nvPr/>
        </p:nvSpPr>
        <p:spPr>
          <a:xfrm>
            <a:off x="6132191" y="6313339"/>
            <a:ext cx="2290614" cy="2347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31"/>
              </a:lnSpc>
            </a:pPr>
            <a:r>
              <a:rPr lang="en-US" sz="1441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Personalised Calibration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5569851" y="6766604"/>
            <a:ext cx="3002244" cy="12226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91"/>
              </a:lnSpc>
            </a:pPr>
            <a:r>
              <a:rPr lang="en-US" sz="1244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Implementing AI to learn each driver's unique baseline eye and mouth aspect ratios will significantly reduce false positives, adapting to individual facial structures.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607</Words>
  <Application>Microsoft Office PowerPoint</Application>
  <PresentationFormat>Custom</PresentationFormat>
  <Paragraphs>61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DM Sans Bold</vt:lpstr>
      <vt:lpstr>Calibri</vt:lpstr>
      <vt:lpstr>Arial</vt:lpstr>
      <vt:lpstr>Libre Baskerville</vt:lpstr>
      <vt:lpstr>DM Sans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CV Project Driver Drowsiness.pptx</dc:title>
  <cp:lastModifiedBy>Muhammad Taaha Hashmi</cp:lastModifiedBy>
  <cp:revision>2</cp:revision>
  <dcterms:created xsi:type="dcterms:W3CDTF">2006-08-16T00:00:00Z</dcterms:created>
  <dcterms:modified xsi:type="dcterms:W3CDTF">2025-12-22T08:42:13Z</dcterms:modified>
  <dc:identifier>DAG8OCtquJU</dc:identifier>
</cp:coreProperties>
</file>